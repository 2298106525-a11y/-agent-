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0" userDrawn="1">
          <p15:clr>
            <a:srgbClr val="A4A3A4"/>
          </p15:clr>
        </p15:guide>
        <p15:guide id="2" pos="28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08" d="100"/>
          <a:sy n="108" d="100"/>
        </p:scale>
        <p:origin x="678" y="96"/>
      </p:cViewPr>
      <p:guideLst>
        <p:guide orient="horz" pos="2130"/>
        <p:guide pos="28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是来自桂林电子科技大学的参赛选手。今天我将为大家介绍我们的参赛作品——"基于多Agent协同的学练测一体化能力提升系统"。这是一个针对当前在线教育"学练脱节、评测分离"痛点而设计的AI驱动自适应学习系统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我今天的汇报将围绕六个方面展开：首先是痛点与机遇分析，然后介绍系统架构设计，接着重点讲解核心创新点，之后展示性能测试结果和实测案例，最后讨论商业化方案和未来展望。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前在线教育面临五大核心痛点：学练脱节、评测分离、千篇一律、数据孤岛、以及LLM输出不稳定。与此同时，中国在线教育市场规模达5000亿元，AI+教育赛道年增长率超40%，目标细分市场规模约200亿元。这是一个巨大的市场机遇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系统采用前后端分离的四层架构。表现层使用React 18构建，路由层基于FastAPI提供REST和SSE流式通信，业务层包含6个专业化Agent和协调器，数据层使用SQLite和7层JSON解析器。系统体现了学生-学校-企业三方协同的设计逻辑。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的核心是6阶段流水线。从岗位需求分析开始，经过可选的简历评估，然后依次进行学习内容生成、训练任务生成、测试考核生成，最后进行能力评估。全流程3-5分钟完成，总Token消耗约10300。各阶段通过SystemState共享数据总线实现松耦合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创新一：多Agent流水线协同架构。将复杂流程分解为6个专业化Agent，每个Agent拥有独立的提示词和输出Schema，支持按需跳过和重新生成。创新二：7层级联JSON解析器，通过6层递进策略，将JSON解析成功率从62%提升至98.5%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创新三：三层记忆增强伴学系统，包含短期滑动窗口、</a:t>
            </a:r>
            <a:r>
              <a:rPr lang="zh-CN" altLang="en-US" dirty="0"/>
              <a:t>长</a:t>
            </a:r>
            <a:r>
              <a:rPr lang="zh-CN" dirty="0"/>
              <a:t>期摘要压缩、</a:t>
            </a:r>
            <a:r>
              <a:rPr lang="zh-CN" altLang="en-US" dirty="0"/>
              <a:t>关键信息</a:t>
            </a:r>
            <a:r>
              <a:rPr lang="zh-CN" dirty="0"/>
              <a:t>结构化提取，记忆连贯性提升43%。创新四：渐进式重试机制，温度递增确保永不输出空数据。创新五：上下文感知再生，自动注入已完成模块、薄弱技能点等上下文信息。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核心性能指标：全流程耗时155秒，JSON解析成功率98.5%，记忆连贯性4.0分（满分5分），总Token消耗10300。各阶段中，内容生成耗时最长约45秒，岗位分析最快仅需15秒。JSON解析各级命中率显示，直接解析占62%，其余38%由后续5层策略修复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选取了3名不同背景学员进行实测。案例一：计算机本科生，评分从42分提升至71分，提升29分。案例二：转行在职人员，系统自动跳过已掌握技能，精准定位薄弱环节。案例三：零基础学员，系统从最基础开始，伴学助手多次解释基础概念。所有数据均可追溯验证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目标市场规模约200亿元。盈利模式包括SaaS订阅（49-99元/月）、按次付费（9.9元/次）、企业版（5000元/年）和API接口（0.1元/次）。推广策略结合线上社群+线下合作，增长策略包括免费体验和推荐计划。风险应对涵盖多模型备份、降级方案、数据加密等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系统的核心贡献包括多Agent协同架构、7层JSON解析器、三层记忆系统和渐进式重试机制。未来将向RAG增强、多模态支持、本地化部署和智能辅导强化四个方向发展。系统已在实测中验证了良好的实用价值和商业前景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以上就是我们项目的完整介绍。感谢各位评委的聆听，接下来是Q&amp;A交流环节，欢迎大家提问。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/>
          <a:srcRect t="414" b="4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52" y="285750"/>
            <a:ext cx="2462497" cy="7620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514219" y="2213610"/>
            <a:ext cx="7163562" cy="2229802"/>
            <a:chOff x="2514219" y="2213610"/>
            <a:chExt cx="7163562" cy="2229802"/>
          </a:xfrm>
        </p:grpSpPr>
        <p:sp>
          <p:nvSpPr>
            <p:cNvPr id="5" name="TextBox 5"/>
            <p:cNvSpPr txBox="1"/>
            <p:nvPr/>
          </p:nvSpPr>
          <p:spPr>
            <a:xfrm>
              <a:off x="3469838" y="2213610"/>
              <a:ext cx="5252323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gradFill>
                    <a:gsLst>
                      <a:gs pos="50000">
                        <a:schemeClr val="tx1"/>
                      </a:gs>
                      <a:gs pos="0">
                        <a:schemeClr val="tx1">
                          <a:lumMod val="25000"/>
                          <a:lumOff val="75000"/>
                        </a:schemeClr>
                      </a:gs>
                      <a:gs pos="100000">
                        <a:schemeClr val="tx1">
                          <a:lumMod val="85000"/>
                        </a:schemeClr>
                      </a:gs>
                    </a:gsLst>
                    <a:lin ang="5400000" scaled="1"/>
                  </a:gra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基于多Agent协同的</a:t>
              </a:r>
              <a:endParaRPr lang="zh-CN" sz="42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514219" y="2880360"/>
              <a:ext cx="7163562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200" b="1" dirty="0">
                  <a:gradFill>
                    <a:gsLst>
                      <a:gs pos="50000">
                        <a:schemeClr val="tx1"/>
                      </a:gs>
                      <a:gs pos="0">
                        <a:schemeClr val="tx1">
                          <a:lumMod val="25000"/>
                          <a:lumOff val="75000"/>
                        </a:schemeClr>
                      </a:gs>
                      <a:gs pos="100000">
                        <a:schemeClr val="tx1">
                          <a:lumMod val="85000"/>
                        </a:schemeClr>
                      </a:gs>
                    </a:gsLst>
                    <a:lin ang="5400000" scaled="1"/>
                  </a:gra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学练测一体化能力提升系统</a:t>
              </a:r>
              <a:endParaRPr lang="zh-CN" sz="4200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7" name="Rectangle 7"/>
            <p:cNvSpPr/>
            <p:nvPr/>
          </p:nvSpPr>
          <p:spPr>
            <a:xfrm>
              <a:off x="3714750" y="3571875"/>
              <a:ext cx="4762500" cy="19050"/>
            </a:xfrm>
            <a:prstGeom prst="rect">
              <a:avLst/>
            </a:prstGeom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3258693" y="3822382"/>
              <a:ext cx="567461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gradFill>
                    <a:gsLst>
                      <a:gs pos="50000">
                        <a:schemeClr val="tx1"/>
                      </a:gs>
                      <a:gs pos="0">
                        <a:schemeClr val="tx1">
                          <a:lumMod val="25000"/>
                          <a:lumOff val="75000"/>
                        </a:schemeClr>
                      </a:gs>
                      <a:gs pos="100000">
                        <a:schemeClr val="tx1">
                          <a:lumMod val="85000"/>
                        </a:schemeClr>
                      </a:gs>
                    </a:gsLst>
                    <a:lin ang="5400000" scaled="1"/>
                  </a:gra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An Integrated Learning-Training-Assessment System</a:t>
              </a:r>
              <a:endParaRPr lang="zh-CN" sz="16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215813" y="4108132"/>
              <a:ext cx="37603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gradFill>
                    <a:gsLst>
                      <a:gs pos="50000">
                        <a:schemeClr val="tx1"/>
                      </a:gs>
                      <a:gs pos="0">
                        <a:schemeClr val="tx1">
                          <a:lumMod val="25000"/>
                          <a:lumOff val="75000"/>
                        </a:schemeClr>
                      </a:gs>
                      <a:gs pos="100000">
                        <a:schemeClr val="tx1">
                          <a:lumMod val="85000"/>
                        </a:schemeClr>
                      </a:gs>
                    </a:gsLst>
                    <a:lin ang="5400000" scaled="1"/>
                  </a:gra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Based on Multi-Agent Collaboration</a:t>
              </a:r>
              <a:endParaRPr lang="zh-CN" sz="165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495800" y="6122988"/>
            <a:ext cx="3200400" cy="517207"/>
            <a:chOff x="4495800" y="4997768"/>
            <a:chExt cx="3200400" cy="517207"/>
          </a:xfrm>
        </p:grpSpPr>
        <p:sp>
          <p:nvSpPr>
            <p:cNvPr id="11" name="TextBox 11"/>
            <p:cNvSpPr txBox="1"/>
            <p:nvPr/>
          </p:nvSpPr>
          <p:spPr>
            <a:xfrm>
              <a:off x="5384800" y="4997768"/>
              <a:ext cx="1422400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gradFill>
                    <a:gsLst>
                      <a:gs pos="50000">
                        <a:schemeClr val="tx1"/>
                      </a:gs>
                      <a:gs pos="0">
                        <a:schemeClr val="tx1">
                          <a:lumMod val="25000"/>
                          <a:lumOff val="75000"/>
                        </a:schemeClr>
                      </a:gs>
                      <a:gs pos="100000">
                        <a:schemeClr val="tx1">
                          <a:lumMod val="85000"/>
                        </a:schemeClr>
                      </a:gs>
                    </a:gsLst>
                    <a:lin ang="5400000" scaled="1"/>
                  </a:gra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桂林电子科技大学</a:t>
              </a:r>
              <a:endParaRPr lang="zh-CN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95800" y="5299710"/>
              <a:ext cx="3200400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dirty="0">
                  <a:gradFill>
                    <a:gsLst>
                      <a:gs pos="50000">
                        <a:schemeClr val="tx1"/>
                      </a:gs>
                      <a:gs pos="0">
                        <a:schemeClr val="tx1">
                          <a:lumMod val="25000"/>
                          <a:lumOff val="75000"/>
                        </a:schemeClr>
                      </a:gs>
                      <a:gs pos="100000">
                        <a:schemeClr val="tx1">
                          <a:lumMod val="85000"/>
                        </a:schemeClr>
                      </a:gs>
                    </a:gsLst>
                    <a:lin ang="5400000" scaled="1"/>
                  </a:gra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第二十一届研究生电子设计竞赛参赛作品</a:t>
              </a:r>
              <a:endParaRPr lang="zh-CN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pic>
        <p:nvPicPr>
          <p:cNvPr id="14" name="Imag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122" y="6000750"/>
            <a:ext cx="1688757" cy="762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347" y="206375"/>
            <a:ext cx="1259417" cy="47625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537210" y="862330"/>
            <a:ext cx="158076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365D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rPr>
              <a:t>汇报大纲</a:t>
            </a:r>
            <a:endParaRPr lang="zh-CN" sz="2700" b="1" dirty="0">
              <a:solidFill>
                <a:srgbClr val="1A365D"/>
              </a:solidFill>
              <a:latin typeface="Georgia" panose="02040502050405020303"/>
              <a:ea typeface="微软雅黑" panose="020B0503020204020204" charset="-122"/>
              <a:cs typeface="Georgia" panose="02040502050405020303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537210" y="2051685"/>
            <a:ext cx="11049000" cy="2286000"/>
            <a:chOff x="571500" y="1666875"/>
            <a:chExt cx="11049000" cy="2286000"/>
          </a:xfrm>
        </p:grpSpPr>
        <p:grpSp>
          <p:nvGrpSpPr>
            <p:cNvPr id="11" name="Group 11"/>
            <p:cNvGrpSpPr/>
            <p:nvPr/>
          </p:nvGrpSpPr>
          <p:grpSpPr>
            <a:xfrm>
              <a:off x="571500" y="1666875"/>
              <a:ext cx="3429000" cy="1000125"/>
              <a:chOff x="571500" y="1666875"/>
              <a:chExt cx="3429000" cy="1000125"/>
            </a:xfrm>
          </p:grpSpPr>
          <p:sp>
            <p:nvSpPr>
              <p:cNvPr id="7" name="Rectangle 7"/>
              <p:cNvSpPr/>
              <p:nvPr/>
            </p:nvSpPr>
            <p:spPr>
              <a:xfrm>
                <a:off x="571500" y="1666875"/>
                <a:ext cx="3429000" cy="1000125"/>
              </a:xfrm>
              <a:prstGeom prst="roundRect">
                <a:avLst>
                  <a:gd name="adj" fmla="val 11429"/>
                </a:avLst>
              </a:prstGeom>
              <a:solidFill>
                <a:srgbClr val="F7FAFC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731520" y="1788795"/>
                <a:ext cx="304800" cy="3689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D4AF37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01</a:t>
                </a:r>
                <a:endParaRPr lang="zh-CN" sz="2400" b="1" dirty="0">
                  <a:solidFill>
                    <a:srgbClr val="D4AF3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173480" y="1834833"/>
                <a:ext cx="1143000" cy="2768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b="1" dirty="0">
                    <a:solidFill>
                      <a:srgbClr val="1A365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痛点与机遇</a:t>
                </a:r>
                <a:endParaRPr lang="zh-CN" b="1" dirty="0">
                  <a:solidFill>
                    <a:srgbClr val="1A365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749618" y="2312194"/>
                <a:ext cx="2449830" cy="215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00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行业现状 · 核心痛点 · 市场机遇</a:t>
                </a:r>
                <a:endParaRPr lang="zh-CN" sz="14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4381500" y="1666875"/>
              <a:ext cx="3429000" cy="1000125"/>
              <a:chOff x="4381500" y="1666875"/>
              <a:chExt cx="3429000" cy="1000125"/>
            </a:xfrm>
          </p:grpSpPr>
          <p:sp>
            <p:nvSpPr>
              <p:cNvPr id="12" name="Rectangle 12"/>
              <p:cNvSpPr/>
              <p:nvPr/>
            </p:nvSpPr>
            <p:spPr>
              <a:xfrm>
                <a:off x="4381500" y="1666875"/>
                <a:ext cx="3429000" cy="1000125"/>
              </a:xfrm>
              <a:prstGeom prst="roundRect">
                <a:avLst>
                  <a:gd name="adj" fmla="val 11429"/>
                </a:avLst>
              </a:prstGeom>
              <a:solidFill>
                <a:srgbClr val="F7FAFC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541520" y="1788795"/>
                <a:ext cx="304800" cy="3689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D4AF37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02</a:t>
                </a:r>
                <a:endParaRPr lang="zh-CN" sz="2400" b="1" dirty="0">
                  <a:solidFill>
                    <a:srgbClr val="D4AF3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972050" y="1834833"/>
                <a:ext cx="914400" cy="2768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b="1" dirty="0">
                    <a:solidFill>
                      <a:srgbClr val="1A365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系统架构</a:t>
                </a:r>
                <a:endParaRPr lang="zh-CN" b="1" dirty="0">
                  <a:solidFill>
                    <a:srgbClr val="1A365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559618" y="2312194"/>
                <a:ext cx="2449830" cy="215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00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四层架构 · 核心流程 · 技术选型</a:t>
                </a:r>
                <a:endParaRPr lang="zh-CN" sz="14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8191500" y="1666875"/>
              <a:ext cx="3429000" cy="1000125"/>
              <a:chOff x="8191500" y="1666875"/>
              <a:chExt cx="3429000" cy="1000125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8191500" y="1666875"/>
                <a:ext cx="3429000" cy="1000125"/>
              </a:xfrm>
              <a:prstGeom prst="roundRect">
                <a:avLst>
                  <a:gd name="adj" fmla="val 11429"/>
                </a:avLst>
              </a:prstGeom>
              <a:solidFill>
                <a:srgbClr val="F7FAFC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351520" y="1788795"/>
                <a:ext cx="304800" cy="3689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D4AF37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03</a:t>
                </a:r>
                <a:endParaRPr lang="zh-CN" sz="2400" b="1" dirty="0">
                  <a:solidFill>
                    <a:srgbClr val="D4AF3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793480" y="1834833"/>
                <a:ext cx="914400" cy="2768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b="1" dirty="0">
                    <a:solidFill>
                      <a:srgbClr val="1A365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核心创新</a:t>
                </a:r>
                <a:endParaRPr lang="zh-CN" b="1" dirty="0">
                  <a:solidFill>
                    <a:srgbClr val="1A365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8369618" y="2312194"/>
                <a:ext cx="1600200" cy="215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00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五大技术创新点详解</a:t>
                </a:r>
                <a:endParaRPr lang="zh-CN" sz="14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71500" y="2952750"/>
              <a:ext cx="3429000" cy="1000125"/>
              <a:chOff x="571500" y="2952750"/>
              <a:chExt cx="3429000" cy="100012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571500" y="2952750"/>
                <a:ext cx="3429000" cy="1000125"/>
              </a:xfrm>
              <a:prstGeom prst="roundRect">
                <a:avLst>
                  <a:gd name="adj" fmla="val 11429"/>
                </a:avLst>
              </a:prstGeom>
              <a:solidFill>
                <a:srgbClr val="F7FAFC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31520" y="3074670"/>
                <a:ext cx="304800" cy="3689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D4AF37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04</a:t>
                </a:r>
                <a:endParaRPr lang="zh-CN" sz="2400" b="1" dirty="0">
                  <a:solidFill>
                    <a:srgbClr val="D4AF3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173480" y="3120708"/>
                <a:ext cx="914400" cy="2768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b="1" dirty="0">
                    <a:solidFill>
                      <a:srgbClr val="1A365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性能测试</a:t>
                </a:r>
                <a:endParaRPr lang="zh-CN" b="1" dirty="0">
                  <a:solidFill>
                    <a:srgbClr val="1A365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757873" y="3620929"/>
                <a:ext cx="2252345" cy="215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00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耗时 · 解析率 · 连贯性 · 并发</a:t>
                </a:r>
                <a:endParaRPr lang="zh-CN" sz="14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4381500" y="2952750"/>
              <a:ext cx="3429000" cy="1000125"/>
              <a:chOff x="4381500" y="2952750"/>
              <a:chExt cx="3429000" cy="1000125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4381500" y="2952750"/>
                <a:ext cx="3429000" cy="1000125"/>
              </a:xfrm>
              <a:prstGeom prst="roundRect">
                <a:avLst>
                  <a:gd name="adj" fmla="val 11429"/>
                </a:avLst>
              </a:prstGeom>
              <a:solidFill>
                <a:srgbClr val="F7FAFC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541520" y="3074670"/>
                <a:ext cx="304800" cy="3689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D4AF37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05</a:t>
                </a:r>
                <a:endParaRPr lang="zh-CN" sz="2400" b="1" dirty="0">
                  <a:solidFill>
                    <a:srgbClr val="D4AF3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983480" y="3120708"/>
                <a:ext cx="914400" cy="2768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b="1" dirty="0">
                    <a:solidFill>
                      <a:srgbClr val="1A365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实测案例</a:t>
                </a:r>
                <a:endParaRPr lang="zh-CN" b="1" dirty="0">
                  <a:solidFill>
                    <a:srgbClr val="1A365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4543743" y="3620929"/>
                <a:ext cx="2113915" cy="215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00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三类学员验证 · 数据可追溯</a:t>
                </a:r>
                <a:endParaRPr lang="zh-CN" sz="14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8191500" y="2952750"/>
              <a:ext cx="3429000" cy="1000125"/>
              <a:chOff x="8191500" y="2952750"/>
              <a:chExt cx="3429000" cy="1000125"/>
            </a:xfrm>
          </p:grpSpPr>
          <p:sp>
            <p:nvSpPr>
              <p:cNvPr id="32" name="Rectangle 32"/>
              <p:cNvSpPr/>
              <p:nvPr/>
            </p:nvSpPr>
            <p:spPr>
              <a:xfrm>
                <a:off x="8191500" y="2952750"/>
                <a:ext cx="3429000" cy="1000125"/>
              </a:xfrm>
              <a:prstGeom prst="roundRect">
                <a:avLst>
                  <a:gd name="adj" fmla="val 11429"/>
                </a:avLst>
              </a:prstGeom>
              <a:solidFill>
                <a:srgbClr val="F7FAFC"/>
              </a:solidFill>
              <a:ln w="14288">
                <a:solidFill>
                  <a:srgbClr val="E2E8F0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351520" y="3074670"/>
                <a:ext cx="304800" cy="36893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rgbClr val="D4AF37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06</a:t>
                </a:r>
                <a:endParaRPr lang="zh-CN" sz="2400" b="1" dirty="0">
                  <a:solidFill>
                    <a:srgbClr val="D4AF3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793480" y="3120708"/>
                <a:ext cx="1371600" cy="2768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b="1" dirty="0">
                    <a:solidFill>
                      <a:srgbClr val="1A365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商业化与展望</a:t>
                </a:r>
                <a:endParaRPr lang="zh-CN" b="1" dirty="0">
                  <a:solidFill>
                    <a:srgbClr val="1A365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8369618" y="3620929"/>
                <a:ext cx="1738630" cy="2152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400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市场 · 盈利 · 未来方向</a:t>
                </a:r>
                <a:endParaRPr lang="zh-CN" sz="14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pic>
        <p:nvPicPr>
          <p:cNvPr id="38" name="Image 3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4122" y="6000750"/>
            <a:ext cx="1688757" cy="762000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4995434" y="6379845"/>
            <a:ext cx="220113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桂林电子科技大学 · 研究生电子设计竞赛</a:t>
            </a:r>
            <a:endParaRPr lang="zh-CN" sz="900" dirty="0">
              <a:solidFill>
                <a:srgbClr val="A0AE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472" y="206816"/>
            <a:ext cx="3217472" cy="45950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1020" y="791210"/>
            <a:ext cx="174117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365D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rPr>
              <a:t>痛点与机遇</a:t>
            </a:r>
            <a:endParaRPr lang="zh-CN" sz="2400" b="1" dirty="0">
              <a:solidFill>
                <a:srgbClr val="1A365D"/>
              </a:solidFill>
              <a:latin typeface="Georgia" panose="02040502050405020303"/>
              <a:ea typeface="微软雅黑" panose="020B0503020204020204" charset="-122"/>
              <a:cs typeface="Georgia" panose="020405020504050203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8165" y="1175068"/>
            <a:ext cx="27432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当前在线教育平台的核心痛点与市场机遇</a:t>
            </a:r>
            <a:endParaRPr lang="zh-CN" sz="12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571500" y="1571625"/>
            <a:ext cx="5238750" cy="4381500"/>
          </a:xfrm>
          <a:prstGeom prst="roundRect">
            <a:avLst>
              <a:gd name="adj" fmla="val 2609"/>
            </a:avLst>
          </a:prstGeom>
          <a:solidFill>
            <a:srgbClr val="F7FAFC"/>
          </a:solidFill>
          <a:ln w="14288">
            <a:solidFill>
              <a:srgbClr val="E2E8F0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838200" y="1790700"/>
            <a:ext cx="1016000" cy="3073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000" b="1" dirty="0">
                <a:solidFill>
                  <a:srgbClr val="E53E3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行业痛点</a:t>
            </a:r>
            <a:endParaRPr lang="zh-CN" sz="2000" b="1" dirty="0">
              <a:solidFill>
                <a:srgbClr val="E53E3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3" name="Group 13"/>
          <p:cNvGrpSpPr/>
          <p:nvPr/>
        </p:nvGrpSpPr>
        <p:grpSpPr>
          <a:xfrm rot="0">
            <a:off x="1286521" y="2498725"/>
            <a:ext cx="3714104" cy="467995"/>
            <a:chOff x="1223010" y="2175510"/>
            <a:chExt cx="3713999" cy="467995"/>
          </a:xfrm>
        </p:grpSpPr>
        <p:sp>
          <p:nvSpPr>
            <p:cNvPr id="11" name="TextBox 11"/>
            <p:cNvSpPr txBox="1"/>
            <p:nvPr/>
          </p:nvSpPr>
          <p:spPr>
            <a:xfrm>
              <a:off x="1223010" y="2175510"/>
              <a:ext cx="8128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学练脱节</a:t>
              </a:r>
              <a:endParaRPr lang="zh-CN" sz="1600" b="1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25868" y="2419985"/>
              <a:ext cx="3711141" cy="223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学习与练习分离，无法形成闭环反馈</a:t>
              </a:r>
              <a:endParaRPr lang="zh-CN" sz="14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1308735" y="3331845"/>
            <a:ext cx="3947795" cy="467995"/>
            <a:chOff x="1926" y="4401"/>
            <a:chExt cx="6217" cy="737"/>
          </a:xfrm>
        </p:grpSpPr>
        <p:sp>
          <p:nvSpPr>
            <p:cNvPr id="17" name="TextBox 17"/>
            <p:cNvSpPr txBox="1"/>
            <p:nvPr/>
          </p:nvSpPr>
          <p:spPr>
            <a:xfrm>
              <a:off x="1926" y="4401"/>
              <a:ext cx="1280" cy="3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评测分离</a:t>
              </a:r>
              <a:endParaRPr lang="zh-CN" sz="1600" b="1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931" y="4786"/>
              <a:ext cx="6212" cy="3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考核与评估脱节，无法精准定位薄弱点</a:t>
              </a:r>
              <a:endParaRPr lang="zh-CN" sz="14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 rot="0">
            <a:off x="1275388" y="4164965"/>
            <a:ext cx="3235017" cy="466725"/>
            <a:chOff x="1223010" y="3413760"/>
            <a:chExt cx="3235120" cy="466989"/>
          </a:xfrm>
        </p:grpSpPr>
        <p:sp>
          <p:nvSpPr>
            <p:cNvPr id="23" name="TextBox 23"/>
            <p:cNvSpPr txBox="1"/>
            <p:nvPr/>
          </p:nvSpPr>
          <p:spPr>
            <a:xfrm>
              <a:off x="1223010" y="3413760"/>
              <a:ext cx="8128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千篇一律</a:t>
              </a:r>
              <a:endParaRPr lang="zh-CN" sz="1600" b="1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25868" y="3657124"/>
              <a:ext cx="3232262" cy="223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固定课程无法适配不同背景学员</a:t>
              </a:r>
              <a:endParaRPr lang="zh-CN" sz="14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 rot="0">
            <a:off x="1297622" y="4996815"/>
            <a:ext cx="3468688" cy="466725"/>
            <a:chOff x="1223010" y="4032885"/>
            <a:chExt cx="3468693" cy="466989"/>
          </a:xfrm>
        </p:grpSpPr>
        <p:sp>
          <p:nvSpPr>
            <p:cNvPr id="30" name="TextBox 30"/>
            <p:cNvSpPr txBox="1"/>
            <p:nvPr/>
          </p:nvSpPr>
          <p:spPr>
            <a:xfrm>
              <a:off x="1223010" y="4032885"/>
              <a:ext cx="812800" cy="24574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数据孤岛</a:t>
              </a:r>
              <a:endParaRPr lang="zh-CN" sz="1600" b="1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225868" y="4276249"/>
              <a:ext cx="3465835" cy="2236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学习数据分散，无法追踪成长轨迹</a:t>
              </a:r>
              <a:endParaRPr lang="zh-CN" sz="14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191250" y="1571625"/>
            <a:ext cx="5429250" cy="4381500"/>
            <a:chOff x="6191250" y="1571625"/>
            <a:chExt cx="5429250" cy="4381500"/>
          </a:xfrm>
        </p:grpSpPr>
        <p:sp>
          <p:nvSpPr>
            <p:cNvPr id="38" name="Rectangle 38"/>
            <p:cNvSpPr/>
            <p:nvPr/>
          </p:nvSpPr>
          <p:spPr>
            <a:xfrm>
              <a:off x="6191250" y="1571625"/>
              <a:ext cx="5429250" cy="4381500"/>
            </a:xfrm>
            <a:prstGeom prst="roundRect">
              <a:avLst>
                <a:gd name="adj" fmla="val 2609"/>
              </a:avLst>
            </a:prstGeom>
            <a:solidFill>
              <a:srgbClr val="F7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457950" y="1790700"/>
              <a:ext cx="1016000" cy="3073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00" b="1" dirty="0">
                  <a:solidFill>
                    <a:srgbClr val="38A1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市场机遇</a:t>
              </a:r>
              <a:endParaRPr lang="zh-CN" sz="2000" b="1" dirty="0">
                <a:solidFill>
                  <a:srgbClr val="38A1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44" name="Group 44"/>
            <p:cNvGrpSpPr/>
            <p:nvPr/>
          </p:nvGrpSpPr>
          <p:grpSpPr>
            <a:xfrm>
              <a:off x="6477000" y="2238375"/>
              <a:ext cx="2286000" cy="1047750"/>
              <a:chOff x="6477000" y="2238375"/>
              <a:chExt cx="2286000" cy="10477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6477000" y="2238375"/>
                <a:ext cx="228600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14288">
                <a:solidFill>
                  <a:srgbClr val="2B6CB0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105649" y="2327910"/>
                <a:ext cx="1028700" cy="415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2B6CB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5000</a:t>
                </a:r>
                <a:r>
                  <a:rPr lang="zh-CN" sz="2700" b="1" dirty="0">
                    <a:solidFill>
                      <a:srgbClr val="2B6CB0"/>
                    </a:solidFill>
                    <a:latin typeface="Georgia" panose="02040502050405020303"/>
                    <a:ea typeface="微软雅黑" panose="020B0503020204020204" charset="-122"/>
                    <a:cs typeface="Georgia" panose="02040502050405020303"/>
                  </a:rPr>
                  <a:t>亿</a:t>
                </a:r>
                <a:endParaRPr lang="zh-CN" sz="2700" b="1" dirty="0">
                  <a:solidFill>
                    <a:srgbClr val="2B6CB0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018592" y="2744152"/>
                <a:ext cx="120281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2D37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中国在线教育市场</a:t>
                </a:r>
                <a:endParaRPr lang="zh-CN" sz="1050" b="1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7222490" y="2950845"/>
                <a:ext cx="795020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2024年规模</a:t>
                </a:r>
                <a:endParaRPr lang="zh-CN" sz="12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9048750" y="2238375"/>
              <a:ext cx="2286000" cy="1047750"/>
              <a:chOff x="9048750" y="2238375"/>
              <a:chExt cx="2286000" cy="1047750"/>
            </a:xfrm>
          </p:grpSpPr>
          <p:sp>
            <p:nvSpPr>
              <p:cNvPr id="45" name="Rectangle 45"/>
              <p:cNvSpPr/>
              <p:nvPr/>
            </p:nvSpPr>
            <p:spPr>
              <a:xfrm>
                <a:off x="9048750" y="2238375"/>
                <a:ext cx="228600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14288">
                <a:solidFill>
                  <a:srgbClr val="D4AF37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9763125" y="2327910"/>
                <a:ext cx="857250" cy="415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D4AF37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200</a:t>
                </a:r>
                <a:r>
                  <a:rPr lang="zh-CN" sz="2700" b="1" dirty="0">
                    <a:solidFill>
                      <a:srgbClr val="D4AF37"/>
                    </a:solidFill>
                    <a:latin typeface="Georgia" panose="02040502050405020303"/>
                    <a:ea typeface="微软雅黑" panose="020B0503020204020204" charset="-122"/>
                    <a:cs typeface="Georgia" panose="02040502050405020303"/>
                  </a:rPr>
                  <a:t>亿</a:t>
                </a:r>
                <a:endParaRPr lang="zh-CN" sz="2700" b="1" dirty="0">
                  <a:solidFill>
                    <a:srgbClr val="D4AF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781465" y="2744152"/>
                <a:ext cx="82056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2D37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AI+职业教育</a:t>
                </a:r>
                <a:endParaRPr lang="zh-CN" sz="1050" b="1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734550" y="2950845"/>
                <a:ext cx="914400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目标细分市场</a:t>
                </a:r>
                <a:endParaRPr lang="zh-CN" sz="12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6477000" y="3476625"/>
              <a:ext cx="2286000" cy="1047750"/>
              <a:chOff x="6477000" y="3476625"/>
              <a:chExt cx="2286000" cy="10477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477000" y="3476625"/>
                <a:ext cx="228600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14288">
                <a:solidFill>
                  <a:srgbClr val="38A169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156450" y="3566160"/>
                <a:ext cx="927100" cy="415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700" b="1" dirty="0">
                    <a:solidFill>
                      <a:srgbClr val="38A169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40%</a:t>
                </a:r>
                <a:r>
                  <a:rPr lang="zh-CN" sz="2700" b="1" dirty="0">
                    <a:solidFill>
                      <a:srgbClr val="38A169"/>
                    </a:solidFill>
                    <a:latin typeface="Georgia" panose="02040502050405020303"/>
                    <a:ea typeface="微软雅黑" panose="020B0503020204020204" charset="-122"/>
                    <a:cs typeface="Georgia" panose="02040502050405020303"/>
                  </a:rPr>
                  <a:t>+</a:t>
                </a:r>
                <a:endParaRPr lang="zh-CN" sz="2700" b="1" dirty="0">
                  <a:solidFill>
                    <a:srgbClr val="38A169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062697" y="3982402"/>
                <a:ext cx="111460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2D37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AI+教育年增长率</a:t>
                </a:r>
                <a:endParaRPr lang="zh-CN" sz="1050" b="1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7162800" y="4189095"/>
                <a:ext cx="914400" cy="1841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高速增长赛道</a:t>
                </a:r>
                <a:endParaRPr lang="zh-CN" sz="12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9048750" y="3476625"/>
              <a:ext cx="2286000" cy="1047750"/>
              <a:chOff x="9048750" y="3476625"/>
              <a:chExt cx="2286000" cy="1047750"/>
            </a:xfrm>
          </p:grpSpPr>
          <p:sp>
            <p:nvSpPr>
              <p:cNvPr id="55" name="Rectangle 55"/>
              <p:cNvSpPr/>
              <p:nvPr/>
            </p:nvSpPr>
            <p:spPr>
              <a:xfrm>
                <a:off x="9048750" y="3476625"/>
                <a:ext cx="2286000" cy="1047750"/>
              </a:xfrm>
              <a:prstGeom prst="roundRect">
                <a:avLst>
                  <a:gd name="adj" fmla="val 9091"/>
                </a:avLst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9862423" y="3599656"/>
                <a:ext cx="658654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FFFFF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核心机遇</a:t>
                </a:r>
                <a:endParaRPr lang="zh-CN" sz="112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9789319" y="3853974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>
                        <a:alphaMod val="85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学练测一体化</a:t>
                </a:r>
                <a:endParaRPr lang="zh-CN" sz="975" dirty="0">
                  <a:solidFill>
                    <a:srgbClr val="FFFFFF">
                      <a:alphaMod val="8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9799070" y="4044474"/>
                <a:ext cx="7853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>
                        <a:alphaMod val="85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AI驱动个性化</a:t>
                </a:r>
                <a:endParaRPr lang="zh-CN" sz="975" dirty="0">
                  <a:solidFill>
                    <a:srgbClr val="FFFFFF">
                      <a:alphaMod val="8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9854327" y="4234974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>
                        <a:alphaMod val="85000"/>
                      </a:srgbClr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数据可追溯</a:t>
                </a:r>
                <a:endParaRPr lang="zh-CN" sz="975" dirty="0">
                  <a:solidFill>
                    <a:srgbClr val="FFFFFF">
                      <a:alphaMod val="85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61" name="TextBox 61"/>
            <p:cNvSpPr txBox="1"/>
            <p:nvPr/>
          </p:nvSpPr>
          <p:spPr>
            <a:xfrm>
              <a:off x="6461760" y="4728210"/>
              <a:ext cx="711200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目标用户</a:t>
              </a:r>
              <a:endParaRPr lang="zh-CN" sz="1400" b="1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463665" y="4982528"/>
              <a:ext cx="222694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高校学生：求职准备、技能提升</a:t>
              </a:r>
              <a:endParaRPr lang="zh-CN" sz="12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463665" y="5201602"/>
              <a:ext cx="222694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在职人员：转行学习、技能更新</a:t>
              </a:r>
              <a:endParaRPr lang="zh-CN" sz="12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463665" y="5420678"/>
              <a:ext cx="222694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培训机构：内容生成、能力评估</a:t>
              </a:r>
              <a:endParaRPr lang="zh-CN" sz="12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pic>
        <p:nvPicPr>
          <p:cNvPr id="66" name="Image 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4122" y="6000750"/>
            <a:ext cx="1688757" cy="762000"/>
          </a:xfrm>
          <a:prstGeom prst="rect">
            <a:avLst/>
          </a:prstGeom>
        </p:spPr>
      </p:pic>
      <p:sp>
        <p:nvSpPr>
          <p:cNvPr id="67" name="TextBox 67"/>
          <p:cNvSpPr txBox="1"/>
          <p:nvPr/>
        </p:nvSpPr>
        <p:spPr>
          <a:xfrm>
            <a:off x="5916549" y="6379845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 / 12</a:t>
            </a:r>
            <a:endParaRPr lang="zh-CN" sz="900" dirty="0">
              <a:solidFill>
                <a:srgbClr val="A0AE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2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47" y="206375"/>
            <a:ext cx="1259417" cy="476250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472" y="206816"/>
            <a:ext cx="3217472" cy="4595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矩形: 圆角 69"/>
          <p:cNvSpPr/>
          <p:nvPr/>
        </p:nvSpPr>
        <p:spPr>
          <a:xfrm>
            <a:off x="3953510" y="5219700"/>
            <a:ext cx="3038475" cy="6121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: 圆角 68"/>
          <p:cNvSpPr/>
          <p:nvPr/>
        </p:nvSpPr>
        <p:spPr>
          <a:xfrm>
            <a:off x="571500" y="5220070"/>
            <a:ext cx="2835212" cy="61195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1020" y="798195"/>
            <a:ext cx="207721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365D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rPr>
              <a:t>系统架构设计</a:t>
            </a:r>
            <a:endParaRPr lang="zh-CN" sz="2400" b="1" dirty="0">
              <a:solidFill>
                <a:srgbClr val="1A365D"/>
              </a:solidFill>
              <a:latin typeface="Georgia" panose="02040502050405020303"/>
              <a:ea typeface="微软雅黑" panose="020B0503020204020204" charset="-122"/>
              <a:cs typeface="Georgia" panose="020405020504050203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8165" y="1182053"/>
            <a:ext cx="33020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前后端分离的四层架构，学生-学校-企业三方协同</a:t>
            </a:r>
            <a:endParaRPr lang="zh-CN" sz="12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571500" y="1524000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2B6CB0">
              <a:alpha val="8000"/>
            </a:srgbClr>
          </a:solidFill>
          <a:ln w="19050">
            <a:solidFill>
              <a:srgbClr val="2B6CB0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37260" y="1680210"/>
            <a:ext cx="132397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2B6CB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表现层 Frontend</a:t>
            </a:r>
            <a:endParaRPr lang="zh-CN" sz="1200" b="1" dirty="0">
              <a:solidFill>
                <a:srgbClr val="2B6CB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40435" y="1942465"/>
            <a:ext cx="405638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React 18 + Vite + TailwindCSS · Context API · SSE流式展示</a:t>
            </a:r>
            <a:endParaRPr lang="zh-CN" sz="12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5334000" y="1666875"/>
            <a:ext cx="1428750" cy="333375"/>
          </a:xfrm>
          <a:prstGeom prst="roundRect">
            <a:avLst>
              <a:gd name="adj" fmla="val 17143"/>
            </a:avLst>
          </a:prstGeom>
          <a:solidFill>
            <a:srgbClr val="2B6CB0">
              <a:alpha val="15000"/>
            </a:srgbClr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5659120" y="1779270"/>
            <a:ext cx="7791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B6CB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六大页面模块</a:t>
            </a:r>
            <a:endParaRPr lang="zh-CN" sz="900" b="1" dirty="0">
              <a:solidFill>
                <a:srgbClr val="2B6CB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3" name="Rectangle 13"/>
          <p:cNvSpPr/>
          <p:nvPr/>
        </p:nvSpPr>
        <p:spPr>
          <a:xfrm>
            <a:off x="6953250" y="1666875"/>
            <a:ext cx="1428750" cy="333375"/>
          </a:xfrm>
          <a:prstGeom prst="roundRect">
            <a:avLst>
              <a:gd name="adj" fmla="val 17143"/>
            </a:avLst>
          </a:prstGeom>
          <a:solidFill>
            <a:srgbClr val="2B6CB0">
              <a:alpha val="15000"/>
            </a:srgbClr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7278370" y="1779270"/>
            <a:ext cx="7791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B6CB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流式对话界面</a:t>
            </a:r>
            <a:endParaRPr lang="zh-CN" sz="900" b="1" dirty="0">
              <a:solidFill>
                <a:srgbClr val="2B6CB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Rectangle 15"/>
          <p:cNvSpPr/>
          <p:nvPr/>
        </p:nvSpPr>
        <p:spPr>
          <a:xfrm>
            <a:off x="8572500" y="1666875"/>
            <a:ext cx="1428750" cy="333375"/>
          </a:xfrm>
          <a:prstGeom prst="roundRect">
            <a:avLst>
              <a:gd name="adj" fmla="val 17143"/>
            </a:avLst>
          </a:prstGeom>
          <a:solidFill>
            <a:srgbClr val="2B6CB0">
              <a:alpha val="15000"/>
            </a:srgbClr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8897620" y="1779270"/>
            <a:ext cx="7791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B6CB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雷达图可视化</a:t>
            </a:r>
            <a:endParaRPr lang="zh-CN" sz="900" b="1" dirty="0">
              <a:solidFill>
                <a:srgbClr val="2B6CB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7" name="Freeform 17"/>
          <p:cNvSpPr/>
          <p:nvPr/>
        </p:nvSpPr>
        <p:spPr>
          <a:xfrm>
            <a:off x="6096000" y="2333625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718096"/>
            </a:solidFill>
            <a:tailEnd type="triangle" w="lg" len="lg"/>
          </a:ln>
        </p:spPr>
      </p:sp>
      <p:sp>
        <p:nvSpPr>
          <p:cNvPr id="18" name="Rectangle 18"/>
          <p:cNvSpPr/>
          <p:nvPr/>
        </p:nvSpPr>
        <p:spPr>
          <a:xfrm>
            <a:off x="571500" y="2571750"/>
            <a:ext cx="11049000" cy="762000"/>
          </a:xfrm>
          <a:prstGeom prst="roundRect">
            <a:avLst>
              <a:gd name="adj" fmla="val 12500"/>
            </a:avLst>
          </a:prstGeom>
          <a:solidFill>
            <a:srgbClr val="1A365D">
              <a:alpha val="8000"/>
            </a:srgbClr>
          </a:solidFill>
          <a:ln w="19050">
            <a:solidFill>
              <a:srgbClr val="1A365D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937260" y="2727960"/>
            <a:ext cx="8204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路由层 API</a:t>
            </a:r>
            <a:endParaRPr lang="zh-CN" sz="1200" b="1" dirty="0">
              <a:solidFill>
                <a:srgbClr val="1A365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940435" y="2990215"/>
            <a:ext cx="4029710" cy="1689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FastAPI RESTful + SSE · 生产者-消费者模式 · queue.Queue桥接</a:t>
            </a:r>
            <a:endParaRPr lang="zh-CN" sz="11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Rectangle 21"/>
          <p:cNvSpPr/>
          <p:nvPr/>
        </p:nvSpPr>
        <p:spPr>
          <a:xfrm>
            <a:off x="5334000" y="2714625"/>
            <a:ext cx="1905000" cy="333375"/>
          </a:xfrm>
          <a:prstGeom prst="roundRect">
            <a:avLst>
              <a:gd name="adj" fmla="val 17143"/>
            </a:avLst>
          </a:prstGeom>
          <a:solidFill>
            <a:srgbClr val="1A365D">
              <a:alpha val="15000"/>
            </a:srgbClr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5632450" y="2827020"/>
            <a:ext cx="13081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/api/full/stream SSE</a:t>
            </a:r>
            <a:endParaRPr lang="zh-CN" sz="900" b="1" dirty="0">
              <a:solidFill>
                <a:srgbClr val="1A365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Rectangle 23"/>
          <p:cNvSpPr/>
          <p:nvPr/>
        </p:nvSpPr>
        <p:spPr>
          <a:xfrm>
            <a:off x="7429500" y="2714625"/>
            <a:ext cx="1905000" cy="333375"/>
          </a:xfrm>
          <a:prstGeom prst="roundRect">
            <a:avLst>
              <a:gd name="adj" fmla="val 17143"/>
            </a:avLst>
          </a:prstGeom>
          <a:solidFill>
            <a:srgbClr val="1A365D">
              <a:alpha val="15000"/>
            </a:srgbClr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7768590" y="2827020"/>
            <a:ext cx="12261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/api/tutor 伴学对话</a:t>
            </a:r>
            <a:endParaRPr lang="zh-CN" sz="900" b="1" dirty="0">
              <a:solidFill>
                <a:srgbClr val="1A365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6096000" y="3381375"/>
            <a:ext cx="9525" cy="190500"/>
          </a:xfrm>
          <a:custGeom>
            <a:avLst/>
            <a:gdLst/>
            <a:ahLst/>
            <a:cxnLst/>
            <a:rect l="l" t="t" r="r" b="b"/>
            <a:pathLst>
              <a:path w="9525" h="190500">
                <a:moveTo>
                  <a:pt x="0" y="0"/>
                </a:moveTo>
                <a:lnTo>
                  <a:pt x="0" y="190500"/>
                </a:lnTo>
              </a:path>
            </a:pathLst>
          </a:custGeom>
          <a:noFill/>
          <a:ln w="19050">
            <a:solidFill>
              <a:srgbClr val="718096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571500" y="3619500"/>
            <a:ext cx="11049000" cy="1238250"/>
          </a:xfrm>
          <a:prstGeom prst="roundRect">
            <a:avLst>
              <a:gd name="adj" fmla="val 7692"/>
            </a:avLst>
          </a:prstGeom>
          <a:solidFill>
            <a:srgbClr val="D4AF37">
              <a:alpha val="8000"/>
            </a:srgbClr>
          </a:solidFill>
          <a:ln w="19050">
            <a:solidFill>
              <a:srgbClr val="D4AF37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937260" y="3775710"/>
            <a:ext cx="2306955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D4AF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业务层 Agents + Coordinator</a:t>
            </a:r>
            <a:endParaRPr lang="zh-CN" sz="1200" b="1" dirty="0">
              <a:solidFill>
                <a:srgbClr val="D4AF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40435" y="4037965"/>
            <a:ext cx="45720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6个专业化Agent + 协调器 · 共享SystemState · 独立提示词+Schema</a:t>
            </a:r>
            <a:endParaRPr lang="zh-CN" sz="12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Rectangle 29"/>
          <p:cNvSpPr/>
          <p:nvPr/>
        </p:nvSpPr>
        <p:spPr>
          <a:xfrm>
            <a:off x="2476500" y="4286250"/>
            <a:ext cx="1333500" cy="333375"/>
          </a:xfrm>
          <a:prstGeom prst="roundRect">
            <a:avLst>
              <a:gd name="adj" fmla="val 17143"/>
            </a:avLst>
          </a:prstGeom>
          <a:solidFill>
            <a:srgbClr val="D4AF37">
              <a:alpha val="20000"/>
            </a:srgbClr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2879725" y="4398645"/>
            <a:ext cx="527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D4AF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岗位分析</a:t>
            </a:r>
            <a:endParaRPr lang="zh-CN" sz="900" b="1" dirty="0">
              <a:solidFill>
                <a:srgbClr val="D4AF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1" name="Rectangle 31"/>
          <p:cNvSpPr/>
          <p:nvPr/>
        </p:nvSpPr>
        <p:spPr>
          <a:xfrm>
            <a:off x="3952875" y="4286250"/>
            <a:ext cx="1333500" cy="333375"/>
          </a:xfrm>
          <a:prstGeom prst="roundRect">
            <a:avLst>
              <a:gd name="adj" fmla="val 17143"/>
            </a:avLst>
          </a:prstGeom>
          <a:solidFill>
            <a:srgbClr val="D4AF37">
              <a:alpha val="20000"/>
            </a:srgbClr>
          </a:solidFill>
          <a:ln>
            <a:noFill/>
          </a:ln>
        </p:spPr>
      </p:sp>
      <p:sp>
        <p:nvSpPr>
          <p:cNvPr id="32" name="TextBox 32"/>
          <p:cNvSpPr txBox="1"/>
          <p:nvPr/>
        </p:nvSpPr>
        <p:spPr>
          <a:xfrm>
            <a:off x="4356100" y="4398645"/>
            <a:ext cx="527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D4AF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简历评估</a:t>
            </a:r>
            <a:endParaRPr lang="zh-CN" sz="900" b="1" dirty="0">
              <a:solidFill>
                <a:srgbClr val="D4AF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Rectangle 33"/>
          <p:cNvSpPr/>
          <p:nvPr/>
        </p:nvSpPr>
        <p:spPr>
          <a:xfrm>
            <a:off x="5429250" y="4286250"/>
            <a:ext cx="1333500" cy="333375"/>
          </a:xfrm>
          <a:prstGeom prst="roundRect">
            <a:avLst>
              <a:gd name="adj" fmla="val 17143"/>
            </a:avLst>
          </a:prstGeom>
          <a:solidFill>
            <a:srgbClr val="D4AF37">
              <a:alpha val="20000"/>
            </a:srgbClr>
          </a:solidFill>
          <a:ln>
            <a:noFill/>
          </a:ln>
        </p:spPr>
      </p:sp>
      <p:sp>
        <p:nvSpPr>
          <p:cNvPr id="34" name="TextBox 34"/>
          <p:cNvSpPr txBox="1"/>
          <p:nvPr/>
        </p:nvSpPr>
        <p:spPr>
          <a:xfrm>
            <a:off x="5832475" y="4398645"/>
            <a:ext cx="527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D4AF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内容生成</a:t>
            </a:r>
            <a:endParaRPr lang="zh-CN" sz="900" b="1" dirty="0">
              <a:solidFill>
                <a:srgbClr val="D4AF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5" name="Rectangle 35"/>
          <p:cNvSpPr/>
          <p:nvPr/>
        </p:nvSpPr>
        <p:spPr>
          <a:xfrm>
            <a:off x="6905625" y="4286250"/>
            <a:ext cx="1333500" cy="333375"/>
          </a:xfrm>
          <a:prstGeom prst="roundRect">
            <a:avLst>
              <a:gd name="adj" fmla="val 17143"/>
            </a:avLst>
          </a:prstGeom>
          <a:solidFill>
            <a:srgbClr val="D4AF37">
              <a:alpha val="20000"/>
            </a:srgbClr>
          </a:solidFill>
          <a:ln>
            <a:noFill/>
          </a:ln>
        </p:spPr>
      </p:sp>
      <p:sp>
        <p:nvSpPr>
          <p:cNvPr id="36" name="TextBox 36"/>
          <p:cNvSpPr txBox="1"/>
          <p:nvPr/>
        </p:nvSpPr>
        <p:spPr>
          <a:xfrm>
            <a:off x="7308850" y="4398645"/>
            <a:ext cx="527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D4AF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训练任务</a:t>
            </a:r>
            <a:endParaRPr lang="zh-CN" sz="900" b="1" dirty="0">
              <a:solidFill>
                <a:srgbClr val="D4AF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Rectangle 37"/>
          <p:cNvSpPr/>
          <p:nvPr/>
        </p:nvSpPr>
        <p:spPr>
          <a:xfrm>
            <a:off x="8382000" y="4286250"/>
            <a:ext cx="1333500" cy="333375"/>
          </a:xfrm>
          <a:prstGeom prst="roundRect">
            <a:avLst>
              <a:gd name="adj" fmla="val 17143"/>
            </a:avLst>
          </a:prstGeom>
          <a:solidFill>
            <a:srgbClr val="D4AF37">
              <a:alpha val="20000"/>
            </a:srgbClr>
          </a:solidFill>
          <a:ln>
            <a:noFill/>
          </a:ln>
        </p:spPr>
      </p:sp>
      <p:sp>
        <p:nvSpPr>
          <p:cNvPr id="38" name="TextBox 38"/>
          <p:cNvSpPr txBox="1"/>
          <p:nvPr/>
        </p:nvSpPr>
        <p:spPr>
          <a:xfrm>
            <a:off x="8785225" y="4398645"/>
            <a:ext cx="527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D4AF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测试考核</a:t>
            </a:r>
            <a:endParaRPr lang="zh-CN" sz="900" b="1" dirty="0">
              <a:solidFill>
                <a:srgbClr val="D4AF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Rectangle 39"/>
          <p:cNvSpPr/>
          <p:nvPr/>
        </p:nvSpPr>
        <p:spPr>
          <a:xfrm>
            <a:off x="9858375" y="4286250"/>
            <a:ext cx="1333500" cy="333375"/>
          </a:xfrm>
          <a:prstGeom prst="roundRect">
            <a:avLst>
              <a:gd name="adj" fmla="val 17143"/>
            </a:avLst>
          </a:prstGeom>
          <a:solidFill>
            <a:srgbClr val="D4AF37">
              <a:alpha val="20000"/>
            </a:srgbClr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10261600" y="4398645"/>
            <a:ext cx="527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D4AF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能力评估</a:t>
            </a:r>
            <a:endParaRPr lang="zh-CN" sz="900" b="1" dirty="0">
              <a:solidFill>
                <a:srgbClr val="D4AF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855345" y="5299710"/>
            <a:ext cx="5346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38A1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数据层</a:t>
            </a:r>
            <a:endParaRPr lang="zh-CN" sz="1200" b="1" dirty="0">
              <a:solidFill>
                <a:srgbClr val="38A16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858520" y="5561965"/>
            <a:ext cx="226123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SQLite WAL · 7张表 · 7层JSON解析器</a:t>
            </a:r>
            <a:endParaRPr lang="zh-CN" sz="975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4110355" y="5299710"/>
            <a:ext cx="50927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b="1" dirty="0">
                <a:solidFill>
                  <a:srgbClr val="E53E3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LLM层</a:t>
            </a:r>
            <a:endParaRPr lang="zh-CN" sz="1200" b="1" dirty="0">
              <a:solidFill>
                <a:srgbClr val="E53E3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4113530" y="5561965"/>
            <a:ext cx="2718435" cy="149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OpenAI SDK · DashScope qwen-</a:t>
            </a:r>
            <a:r>
              <a:rPr lang="en-US" altLang="zh-CN" sz="975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flash</a:t>
            </a:r>
            <a:r>
              <a:rPr lang="zh-CN" sz="975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 · 流式调用</a:t>
            </a:r>
            <a:endParaRPr lang="zh-CN" sz="975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67" name="Image 6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4122" y="6000750"/>
            <a:ext cx="1688757" cy="762000"/>
          </a:xfrm>
          <a:prstGeom prst="rect">
            <a:avLst/>
          </a:prstGeom>
        </p:spPr>
      </p:pic>
      <p:sp>
        <p:nvSpPr>
          <p:cNvPr id="68" name="TextBox 68"/>
          <p:cNvSpPr txBox="1"/>
          <p:nvPr/>
        </p:nvSpPr>
        <p:spPr>
          <a:xfrm>
            <a:off x="5916549" y="6379845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 / 12</a:t>
            </a:r>
            <a:endParaRPr lang="zh-CN" sz="900" dirty="0">
              <a:solidFill>
                <a:srgbClr val="A0AE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42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47" y="206375"/>
            <a:ext cx="1259417" cy="476250"/>
          </a:xfrm>
          <a:prstGeom prst="rect">
            <a:avLst/>
          </a:prstGeom>
        </p:spPr>
      </p:pic>
      <p:pic>
        <p:nvPicPr>
          <p:cNvPr id="45" name="图片 4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472" y="206816"/>
            <a:ext cx="3217472" cy="4595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1020" y="807720"/>
            <a:ext cx="3606203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365D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rPr>
              <a:t>核心流程：6阶段流水线</a:t>
            </a:r>
            <a:endParaRPr lang="zh-CN" sz="2400" b="1" dirty="0">
              <a:solidFill>
                <a:srgbClr val="1A365D"/>
              </a:solidFill>
              <a:latin typeface="Georgia" panose="02040502050405020303"/>
              <a:ea typeface="微软雅黑" panose="020B0503020204020204" charset="-122"/>
              <a:cs typeface="Georgia" panose="020405020504050203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8165" y="1191578"/>
            <a:ext cx="476631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每阶段由专业化Agent负责，通过SystemState共享数据总线实现松耦合</a:t>
            </a:r>
            <a:endParaRPr lang="zh-CN" sz="12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274955" y="1663065"/>
            <a:ext cx="1714500" cy="1524000"/>
          </a:xfrm>
          <a:prstGeom prst="roundRect">
            <a:avLst>
              <a:gd name="adj" fmla="val 6250"/>
            </a:avLst>
          </a:prstGeom>
          <a:solidFill>
            <a:srgbClr val="2B6CB0">
              <a:alpha val="8000"/>
            </a:srgbClr>
          </a:solidFill>
          <a:ln w="19050">
            <a:solidFill>
              <a:srgbClr val="2B6CB0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31545" y="1835785"/>
            <a:ext cx="4013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2B6CB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阶段0</a:t>
            </a:r>
            <a:endParaRPr lang="zh-CN" sz="1050" b="1" dirty="0">
              <a:solidFill>
                <a:srgbClr val="2B6CB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645160" y="2065655"/>
            <a:ext cx="9734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岗位需求分析</a:t>
            </a:r>
            <a:endParaRPr lang="zh-CN" sz="1125" b="1" dirty="0">
              <a:solidFill>
                <a:srgbClr val="1A365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595630" y="2327910"/>
            <a:ext cx="10731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RequirementAgent</a:t>
            </a:r>
            <a:endParaRPr lang="zh-CN" sz="9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Rectangle 12"/>
          <p:cNvSpPr/>
          <p:nvPr/>
        </p:nvSpPr>
        <p:spPr>
          <a:xfrm>
            <a:off x="417830" y="2567940"/>
            <a:ext cx="1428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750570" y="2669540"/>
            <a:ext cx="76327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10-25个技能点</a:t>
            </a:r>
            <a:endParaRPr lang="zh-CN" sz="825" dirty="0">
              <a:solidFill>
                <a:srgbClr val="2D374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66140" y="2831465"/>
            <a:ext cx="53276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DAG依赖图</a:t>
            </a:r>
            <a:endParaRPr lang="zh-CN" sz="825" dirty="0">
              <a:solidFill>
                <a:srgbClr val="2D374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18490" y="2993390"/>
            <a:ext cx="102743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~15s · ~800 tokens</a:t>
            </a:r>
            <a:endParaRPr lang="zh-CN" sz="825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2037080" y="2425065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718096"/>
            </a:solidFill>
            <a:tailEnd type="triangle" w="lg" len="lg"/>
          </a:ln>
        </p:spPr>
      </p:sp>
      <p:sp>
        <p:nvSpPr>
          <p:cNvPr id="17" name="Rectangle 17"/>
          <p:cNvSpPr/>
          <p:nvPr/>
        </p:nvSpPr>
        <p:spPr>
          <a:xfrm>
            <a:off x="2275205" y="1663065"/>
            <a:ext cx="1714500" cy="1524000"/>
          </a:xfrm>
          <a:prstGeom prst="roundRect">
            <a:avLst>
              <a:gd name="adj" fmla="val 6250"/>
            </a:avLst>
          </a:prstGeom>
          <a:solidFill>
            <a:srgbClr val="D4AF37">
              <a:alpha val="8000"/>
            </a:srgbClr>
          </a:solidFill>
          <a:ln w="19050">
            <a:solidFill>
              <a:srgbClr val="D4AF37"/>
            </a:solidFill>
          </a:ln>
        </p:spPr>
      </p:sp>
      <p:sp>
        <p:nvSpPr>
          <p:cNvPr id="18" name="TextBox 18"/>
          <p:cNvSpPr txBox="1"/>
          <p:nvPr/>
        </p:nvSpPr>
        <p:spPr>
          <a:xfrm>
            <a:off x="2850515" y="1835785"/>
            <a:ext cx="56324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D4AF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阶段0.5</a:t>
            </a:r>
            <a:endParaRPr lang="zh-CN" sz="1050" b="1" dirty="0">
              <a:solidFill>
                <a:srgbClr val="D4AF37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2802890" y="2065655"/>
            <a:ext cx="6584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简历评估</a:t>
            </a:r>
            <a:endParaRPr lang="zh-CN" sz="1125" b="1" dirty="0">
              <a:solidFill>
                <a:srgbClr val="1A365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2463800" y="2327910"/>
            <a:ext cx="13373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ResumeEvaluatorAgent</a:t>
            </a:r>
            <a:endParaRPr lang="zh-CN" sz="9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1" name="Rectangle 21"/>
          <p:cNvSpPr/>
          <p:nvPr/>
        </p:nvSpPr>
        <p:spPr>
          <a:xfrm>
            <a:off x="2418080" y="2567940"/>
            <a:ext cx="1428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2792095" y="2669540"/>
            <a:ext cx="681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初始能力画像</a:t>
            </a:r>
            <a:endParaRPr lang="zh-CN" sz="825" dirty="0">
              <a:solidFill>
                <a:srgbClr val="2D374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736850" y="2831465"/>
            <a:ext cx="79121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技能掌握度评估</a:t>
            </a:r>
            <a:endParaRPr lang="zh-CN" sz="825" dirty="0">
              <a:solidFill>
                <a:srgbClr val="2D374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827655" y="2993390"/>
            <a:ext cx="60960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可选 · ~12s</a:t>
            </a:r>
            <a:endParaRPr lang="zh-CN" sz="825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5" name="Freeform 25"/>
          <p:cNvSpPr/>
          <p:nvPr/>
        </p:nvSpPr>
        <p:spPr>
          <a:xfrm>
            <a:off x="4037330" y="2425065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718096"/>
            </a:solidFill>
            <a:tailEnd type="triangle" w="lg" len="lg"/>
          </a:ln>
        </p:spPr>
      </p:sp>
      <p:sp>
        <p:nvSpPr>
          <p:cNvPr id="26" name="Rectangle 26"/>
          <p:cNvSpPr/>
          <p:nvPr/>
        </p:nvSpPr>
        <p:spPr>
          <a:xfrm>
            <a:off x="4275455" y="1663065"/>
            <a:ext cx="1714500" cy="1524000"/>
          </a:xfrm>
          <a:prstGeom prst="roundRect">
            <a:avLst>
              <a:gd name="adj" fmla="val 6250"/>
            </a:avLst>
          </a:prstGeom>
          <a:solidFill>
            <a:srgbClr val="38A169">
              <a:alpha val="8000"/>
            </a:srgbClr>
          </a:solidFill>
          <a:ln w="19050">
            <a:solidFill>
              <a:srgbClr val="38A169"/>
            </a:solidFill>
          </a:ln>
        </p:spPr>
      </p:sp>
      <p:sp>
        <p:nvSpPr>
          <p:cNvPr id="27" name="TextBox 27"/>
          <p:cNvSpPr txBox="1"/>
          <p:nvPr/>
        </p:nvSpPr>
        <p:spPr>
          <a:xfrm>
            <a:off x="4932045" y="1835785"/>
            <a:ext cx="4013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8A1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阶段1</a:t>
            </a:r>
            <a:endParaRPr lang="zh-CN" sz="1050" b="1" dirty="0">
              <a:solidFill>
                <a:srgbClr val="38A16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4645660" y="2065655"/>
            <a:ext cx="9734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学习内容生成</a:t>
            </a:r>
            <a:endParaRPr lang="zh-CN" sz="1125" b="1" dirty="0">
              <a:solidFill>
                <a:srgbClr val="1A365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4476115" y="2327910"/>
            <a:ext cx="13131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LearningContentAgent</a:t>
            </a:r>
            <a:endParaRPr lang="zh-CN" sz="9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Rectangle 30"/>
          <p:cNvSpPr/>
          <p:nvPr/>
        </p:nvSpPr>
        <p:spPr>
          <a:xfrm>
            <a:off x="4418330" y="2567940"/>
            <a:ext cx="1428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4747895" y="2669540"/>
            <a:ext cx="76898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Markdown正文</a:t>
            </a:r>
            <a:endParaRPr lang="zh-CN" sz="825" dirty="0">
              <a:solidFill>
                <a:srgbClr val="2D374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4742815" y="2831465"/>
            <a:ext cx="7797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20-60min/模块</a:t>
            </a:r>
            <a:endParaRPr lang="zh-CN" sz="825" dirty="0">
              <a:solidFill>
                <a:srgbClr val="2D374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4588510" y="2993390"/>
            <a:ext cx="10883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~45s · ~3000 tokens</a:t>
            </a:r>
            <a:endParaRPr lang="zh-CN" sz="825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4" name="Freeform 34"/>
          <p:cNvSpPr/>
          <p:nvPr/>
        </p:nvSpPr>
        <p:spPr>
          <a:xfrm>
            <a:off x="6037580" y="2425065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718096"/>
            </a:solidFill>
            <a:tailEnd type="triangle" w="lg" len="lg"/>
          </a:ln>
        </p:spPr>
      </p:sp>
      <p:sp>
        <p:nvSpPr>
          <p:cNvPr id="35" name="Rectangle 35"/>
          <p:cNvSpPr/>
          <p:nvPr/>
        </p:nvSpPr>
        <p:spPr>
          <a:xfrm>
            <a:off x="6275705" y="1663065"/>
            <a:ext cx="1714500" cy="1524000"/>
          </a:xfrm>
          <a:prstGeom prst="roundRect">
            <a:avLst>
              <a:gd name="adj" fmla="val 6250"/>
            </a:avLst>
          </a:prstGeom>
          <a:solidFill>
            <a:srgbClr val="E53E3E">
              <a:alpha val="8000"/>
            </a:srgbClr>
          </a:solidFill>
          <a:ln w="19050">
            <a:solidFill>
              <a:srgbClr val="E53E3E"/>
            </a:solidFill>
          </a:ln>
        </p:spPr>
      </p:sp>
      <p:sp>
        <p:nvSpPr>
          <p:cNvPr id="36" name="TextBox 36"/>
          <p:cNvSpPr txBox="1"/>
          <p:nvPr/>
        </p:nvSpPr>
        <p:spPr>
          <a:xfrm>
            <a:off x="6932295" y="1835785"/>
            <a:ext cx="4013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E53E3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阶段2</a:t>
            </a:r>
            <a:endParaRPr lang="zh-CN" sz="1050" b="1" dirty="0">
              <a:solidFill>
                <a:srgbClr val="E53E3E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645910" y="2065655"/>
            <a:ext cx="9734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训练任务生成</a:t>
            </a:r>
            <a:endParaRPr lang="zh-CN" sz="1125" b="1" dirty="0">
              <a:solidFill>
                <a:srgbClr val="1A365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6590665" y="2327910"/>
            <a:ext cx="108521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TrainingTaskAgent</a:t>
            </a:r>
            <a:endParaRPr lang="zh-CN" sz="9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9" name="Rectangle 39"/>
          <p:cNvSpPr/>
          <p:nvPr/>
        </p:nvSpPr>
        <p:spPr>
          <a:xfrm>
            <a:off x="6418580" y="2567940"/>
            <a:ext cx="1428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0" name="TextBox 40"/>
          <p:cNvSpPr txBox="1"/>
          <p:nvPr/>
        </p:nvSpPr>
        <p:spPr>
          <a:xfrm>
            <a:off x="6817360" y="2669540"/>
            <a:ext cx="63182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5种任务类型</a:t>
            </a:r>
            <a:endParaRPr lang="zh-CN" sz="825" dirty="0">
              <a:solidFill>
                <a:srgbClr val="2D374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6792595" y="2831465"/>
            <a:ext cx="68135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综合场景模拟</a:t>
            </a:r>
            <a:endParaRPr lang="zh-CN" sz="825" dirty="0">
              <a:solidFill>
                <a:srgbClr val="2D374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6588760" y="2993390"/>
            <a:ext cx="10883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~35s · ~2500 tokens</a:t>
            </a:r>
            <a:endParaRPr lang="zh-CN" sz="825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3" name="Freeform 43"/>
          <p:cNvSpPr/>
          <p:nvPr/>
        </p:nvSpPr>
        <p:spPr>
          <a:xfrm>
            <a:off x="8037830" y="2425065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718096"/>
            </a:solidFill>
            <a:tailEnd type="triangle" w="lg" len="lg"/>
          </a:ln>
        </p:spPr>
      </p:sp>
      <p:sp>
        <p:nvSpPr>
          <p:cNvPr id="44" name="Rectangle 44"/>
          <p:cNvSpPr/>
          <p:nvPr/>
        </p:nvSpPr>
        <p:spPr>
          <a:xfrm>
            <a:off x="8275955" y="1663065"/>
            <a:ext cx="1714500" cy="1524000"/>
          </a:xfrm>
          <a:prstGeom prst="roundRect">
            <a:avLst>
              <a:gd name="adj" fmla="val 6250"/>
            </a:avLst>
          </a:prstGeom>
          <a:solidFill>
            <a:srgbClr val="9C27B0">
              <a:alpha val="8000"/>
            </a:srgbClr>
          </a:solidFill>
          <a:ln w="19050">
            <a:solidFill>
              <a:srgbClr val="9C27B0"/>
            </a:solidFill>
          </a:ln>
        </p:spPr>
      </p:sp>
      <p:sp>
        <p:nvSpPr>
          <p:cNvPr id="45" name="TextBox 45"/>
          <p:cNvSpPr txBox="1"/>
          <p:nvPr/>
        </p:nvSpPr>
        <p:spPr>
          <a:xfrm>
            <a:off x="8932545" y="1835785"/>
            <a:ext cx="4013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9C27B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阶段3</a:t>
            </a:r>
            <a:endParaRPr lang="zh-CN" sz="1050" b="1" dirty="0">
              <a:solidFill>
                <a:srgbClr val="9C27B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8646160" y="2065655"/>
            <a:ext cx="9734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测试考核生成</a:t>
            </a:r>
            <a:endParaRPr lang="zh-CN" sz="1125" b="1" dirty="0">
              <a:solidFill>
                <a:srgbClr val="1A365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8527415" y="2327910"/>
            <a:ext cx="12109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TestGeneratorAgent</a:t>
            </a:r>
            <a:endParaRPr lang="zh-CN" sz="9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48" name="Rectangle 48"/>
          <p:cNvSpPr/>
          <p:nvPr/>
        </p:nvSpPr>
        <p:spPr>
          <a:xfrm>
            <a:off x="8418830" y="2567940"/>
            <a:ext cx="1428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49" name="TextBox 49"/>
          <p:cNvSpPr txBox="1"/>
          <p:nvPr/>
        </p:nvSpPr>
        <p:spPr>
          <a:xfrm>
            <a:off x="8927465" y="2669540"/>
            <a:ext cx="41148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7种题型</a:t>
            </a:r>
            <a:endParaRPr lang="zh-CN" sz="825" dirty="0">
              <a:solidFill>
                <a:srgbClr val="2D374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8427085" y="2831465"/>
            <a:ext cx="141287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40%基础+40%进阶+20%挑战</a:t>
            </a:r>
            <a:endParaRPr lang="zh-CN" sz="825" dirty="0">
              <a:solidFill>
                <a:srgbClr val="2D374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8589010" y="2993390"/>
            <a:ext cx="1088390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~40s · ~2800 tokens</a:t>
            </a:r>
            <a:endParaRPr lang="zh-CN" sz="825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3" name="Rectangle 53"/>
          <p:cNvSpPr/>
          <p:nvPr/>
        </p:nvSpPr>
        <p:spPr>
          <a:xfrm>
            <a:off x="10281920" y="1663065"/>
            <a:ext cx="1714500" cy="1524000"/>
          </a:xfrm>
          <a:prstGeom prst="roundRect">
            <a:avLst>
              <a:gd name="adj" fmla="val 7692"/>
            </a:avLst>
          </a:prstGeom>
          <a:solidFill>
            <a:srgbClr val="FF9800">
              <a:alpha val="8000"/>
            </a:srgbClr>
          </a:solidFill>
          <a:ln w="19050">
            <a:solidFill>
              <a:srgbClr val="FF9800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10939145" y="1882775"/>
            <a:ext cx="4013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FF980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阶段4</a:t>
            </a:r>
            <a:endParaRPr lang="zh-CN" sz="1050" b="1" dirty="0">
              <a:solidFill>
                <a:srgbClr val="FF980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0810240" y="2113280"/>
            <a:ext cx="65849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能力评估</a:t>
            </a:r>
            <a:endParaRPr lang="zh-CN" sz="1125" b="1" dirty="0">
              <a:solidFill>
                <a:srgbClr val="1A365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0621010" y="2375535"/>
            <a:ext cx="1036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AssessmentAgent</a:t>
            </a:r>
            <a:endParaRPr lang="zh-CN" sz="9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7" name="Rectangle 57"/>
          <p:cNvSpPr/>
          <p:nvPr/>
        </p:nvSpPr>
        <p:spPr>
          <a:xfrm>
            <a:off x="10425430" y="2567940"/>
            <a:ext cx="14287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10529570" y="2669540"/>
            <a:ext cx="1219835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25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综合评分0-100 · 雷达图</a:t>
            </a:r>
            <a:endParaRPr lang="zh-CN" sz="825" dirty="0">
              <a:solidFill>
                <a:srgbClr val="2D374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63" name="Group 63"/>
          <p:cNvGrpSpPr/>
          <p:nvPr/>
        </p:nvGrpSpPr>
        <p:grpSpPr>
          <a:xfrm>
            <a:off x="571500" y="3619500"/>
            <a:ext cx="7237095" cy="762000"/>
            <a:chOff x="571500" y="3619500"/>
            <a:chExt cx="7143750" cy="762000"/>
          </a:xfrm>
        </p:grpSpPr>
        <p:sp>
          <p:nvSpPr>
            <p:cNvPr id="60" name="Rectangle 60"/>
            <p:cNvSpPr/>
            <p:nvPr/>
          </p:nvSpPr>
          <p:spPr>
            <a:xfrm>
              <a:off x="571500" y="3619500"/>
              <a:ext cx="7143750" cy="762000"/>
            </a:xfrm>
            <a:prstGeom prst="roundRect">
              <a:avLst>
                <a:gd name="adj" fmla="val 12500"/>
              </a:avLst>
            </a:prstGeom>
            <a:solidFill>
              <a:srgbClr val="1A365D">
                <a:alpha val="5000"/>
              </a:srgbClr>
            </a:solidFill>
            <a:ln w="14288">
              <a:solidFill>
                <a:srgbClr val="1A365D"/>
              </a:solidFill>
              <a:custDash>
                <a:ds d="400000" sp="266666"/>
              </a:custDash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073803" y="3775710"/>
              <a:ext cx="2139144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365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SystemState 共享数据总线</a:t>
              </a:r>
              <a:endParaRPr lang="zh-CN" sz="1200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404620" y="4038124"/>
              <a:ext cx="54775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各Agent从State读取上游数据、写入本阶段结果，实现松耦合和可插拔的阶段设计</a:t>
              </a:r>
              <a:endParaRPr lang="zh-CN" sz="12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571500" y="4572000"/>
            <a:ext cx="2286000" cy="762000"/>
            <a:chOff x="571500" y="4572000"/>
            <a:chExt cx="2286000" cy="762000"/>
          </a:xfrm>
        </p:grpSpPr>
        <p:sp>
          <p:nvSpPr>
            <p:cNvPr id="64" name="Rectangle 64"/>
            <p:cNvSpPr/>
            <p:nvPr/>
          </p:nvSpPr>
          <p:spPr>
            <a:xfrm>
              <a:off x="571500" y="4572000"/>
              <a:ext cx="2286000" cy="762000"/>
            </a:xfrm>
            <a:prstGeom prst="roundRect">
              <a:avLst>
                <a:gd name="adj" fmla="val 12500"/>
              </a:avLst>
            </a:prstGeom>
            <a:solidFill>
              <a:srgbClr val="F7FAFC"/>
            </a:solidFill>
            <a:ln w="9525">
              <a:solidFill>
                <a:srgbClr val="E2E8F0"/>
              </a:solidFill>
            </a:ln>
          </p:spPr>
        </p:sp>
        <p:sp>
          <p:nvSpPr>
            <p:cNvPr id="65" name="Freeform 65"/>
            <p:cNvSpPr/>
            <p:nvPr/>
          </p:nvSpPr>
          <p:spPr>
            <a:xfrm>
              <a:off x="749298" y="4732338"/>
              <a:ext cx="139704" cy="174625"/>
            </a:xfrm>
            <a:custGeom>
              <a:avLst/>
              <a:gdLst/>
              <a:ahLst/>
              <a:cxnLst/>
              <a:rect l="l" t="t" r="r" b="b"/>
              <a:pathLst>
                <a:path w="139704" h="174625">
                  <a:moveTo>
                    <a:pt x="122213" y="18947"/>
                  </a:moveTo>
                  <a:cubicBezTo>
                    <a:pt x="132694" y="22640"/>
                    <a:pt x="139704" y="32544"/>
                    <a:pt x="139702" y="43656"/>
                  </a:cubicBezTo>
                  <a:lnTo>
                    <a:pt x="139702" y="148431"/>
                  </a:lnTo>
                  <a:cubicBezTo>
                    <a:pt x="139702" y="162898"/>
                    <a:pt x="127975" y="174625"/>
                    <a:pt x="113508" y="174625"/>
                  </a:cubicBezTo>
                  <a:lnTo>
                    <a:pt x="26196" y="174625"/>
                  </a:lnTo>
                  <a:cubicBezTo>
                    <a:pt x="11729" y="174625"/>
                    <a:pt x="2" y="162898"/>
                    <a:pt x="2" y="148431"/>
                  </a:cubicBezTo>
                  <a:lnTo>
                    <a:pt x="2" y="43656"/>
                  </a:lnTo>
                  <a:cubicBezTo>
                    <a:pt x="0" y="32544"/>
                    <a:pt x="7010" y="22640"/>
                    <a:pt x="17491" y="18947"/>
                  </a:cubicBezTo>
                  <a:cubicBezTo>
                    <a:pt x="18286" y="37643"/>
                    <a:pt x="33676" y="52390"/>
                    <a:pt x="52389" y="52388"/>
                  </a:cubicBezTo>
                  <a:lnTo>
                    <a:pt x="87314" y="52388"/>
                  </a:lnTo>
                  <a:cubicBezTo>
                    <a:pt x="105242" y="52389"/>
                    <a:pt x="120259" y="38817"/>
                    <a:pt x="122065" y="20981"/>
                  </a:cubicBezTo>
                  <a:close/>
                  <a:moveTo>
                    <a:pt x="89873" y="81140"/>
                  </a:moveTo>
                  <a:lnTo>
                    <a:pt x="61121" y="109883"/>
                  </a:lnTo>
                  <a:lnTo>
                    <a:pt x="49831" y="98602"/>
                  </a:lnTo>
                  <a:cubicBezTo>
                    <a:pt x="47639" y="96332"/>
                    <a:pt x="44393" y="95422"/>
                    <a:pt x="41340" y="96221"/>
                  </a:cubicBezTo>
                  <a:cubicBezTo>
                    <a:pt x="38287" y="97020"/>
                    <a:pt x="35903" y="99404"/>
                    <a:pt x="35104" y="102457"/>
                  </a:cubicBezTo>
                  <a:cubicBezTo>
                    <a:pt x="34305" y="105509"/>
                    <a:pt x="35215" y="108756"/>
                    <a:pt x="37485" y="110948"/>
                  </a:cubicBezTo>
                  <a:lnTo>
                    <a:pt x="54948" y="128410"/>
                  </a:lnTo>
                  <a:cubicBezTo>
                    <a:pt x="58357" y="131819"/>
                    <a:pt x="63884" y="131819"/>
                    <a:pt x="67294" y="128410"/>
                  </a:cubicBezTo>
                  <a:lnTo>
                    <a:pt x="102219" y="93485"/>
                  </a:lnTo>
                  <a:cubicBezTo>
                    <a:pt x="105528" y="90060"/>
                    <a:pt x="105480" y="84614"/>
                    <a:pt x="102112" y="81246"/>
                  </a:cubicBezTo>
                  <a:cubicBezTo>
                    <a:pt x="98744" y="77878"/>
                    <a:pt x="93299" y="77831"/>
                    <a:pt x="89873" y="81140"/>
                  </a:cubicBezTo>
                  <a:moveTo>
                    <a:pt x="87314" y="0"/>
                  </a:moveTo>
                  <a:cubicBezTo>
                    <a:pt x="96959" y="0"/>
                    <a:pt x="104777" y="7818"/>
                    <a:pt x="104777" y="17463"/>
                  </a:cubicBezTo>
                  <a:cubicBezTo>
                    <a:pt x="104777" y="27107"/>
                    <a:pt x="96959" y="34925"/>
                    <a:pt x="87314" y="34925"/>
                  </a:cubicBezTo>
                  <a:lnTo>
                    <a:pt x="52389" y="34925"/>
                  </a:lnTo>
                  <a:cubicBezTo>
                    <a:pt x="42745" y="34925"/>
                    <a:pt x="34927" y="27107"/>
                    <a:pt x="34927" y="17463"/>
                  </a:cubicBezTo>
                  <a:cubicBezTo>
                    <a:pt x="34927" y="7818"/>
                    <a:pt x="42745" y="0"/>
                    <a:pt x="52389" y="0"/>
                  </a:cubicBezTo>
                  <a:close/>
                </a:path>
              </a:pathLst>
            </a:custGeom>
            <a:solidFill>
              <a:srgbClr val="2B6CB0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87742" y="4733449"/>
              <a:ext cx="105546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按需跳过/重生成</a:t>
              </a:r>
              <a:endParaRPr lang="zh-CN" sz="975" b="1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89648" y="494014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阶段可插拔</a:t>
              </a:r>
              <a:endParaRPr lang="zh-CN" sz="825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3048000" y="4572000"/>
            <a:ext cx="2286000" cy="762000"/>
            <a:chOff x="3048000" y="4572000"/>
            <a:chExt cx="2286000" cy="762000"/>
          </a:xfrm>
        </p:grpSpPr>
        <p:sp>
          <p:nvSpPr>
            <p:cNvPr id="69" name="Rectangle 69"/>
            <p:cNvSpPr/>
            <p:nvPr/>
          </p:nvSpPr>
          <p:spPr>
            <a:xfrm>
              <a:off x="3048000" y="4572000"/>
              <a:ext cx="2286000" cy="762000"/>
            </a:xfrm>
            <a:prstGeom prst="roundRect">
              <a:avLst>
                <a:gd name="adj" fmla="val 12500"/>
              </a:avLst>
            </a:prstGeom>
            <a:solidFill>
              <a:srgbClr val="F7FAFC"/>
            </a:solidFill>
            <a:ln w="9525">
              <a:solidFill>
                <a:srgbClr val="E2E8F0"/>
              </a:solidFill>
            </a:ln>
          </p:spPr>
        </p:sp>
        <p:sp>
          <p:nvSpPr>
            <p:cNvPr id="70" name="Freeform 70"/>
            <p:cNvSpPr/>
            <p:nvPr/>
          </p:nvSpPr>
          <p:spPr>
            <a:xfrm>
              <a:off x="3204384" y="4732338"/>
              <a:ext cx="182523" cy="174718"/>
            </a:xfrm>
            <a:custGeom>
              <a:avLst/>
              <a:gdLst/>
              <a:ahLst/>
              <a:cxnLst/>
              <a:rect l="l" t="t" r="r" b="b"/>
              <a:pathLst>
                <a:path w="182523" h="174718">
                  <a:moveTo>
                    <a:pt x="90253" y="61"/>
                  </a:moveTo>
                  <a:lnTo>
                    <a:pt x="91249" y="0"/>
                  </a:lnTo>
                  <a:lnTo>
                    <a:pt x="92279" y="61"/>
                  </a:lnTo>
                  <a:lnTo>
                    <a:pt x="92794" y="131"/>
                  </a:lnTo>
                  <a:lnTo>
                    <a:pt x="93327" y="244"/>
                  </a:lnTo>
                  <a:lnTo>
                    <a:pt x="94296" y="541"/>
                  </a:lnTo>
                  <a:cubicBezTo>
                    <a:pt x="94965" y="788"/>
                    <a:pt x="95601" y="1117"/>
                    <a:pt x="96190" y="1519"/>
                  </a:cubicBezTo>
                  <a:lnTo>
                    <a:pt x="97098" y="2235"/>
                  </a:lnTo>
                  <a:lnTo>
                    <a:pt x="99325" y="4139"/>
                  </a:lnTo>
                  <a:cubicBezTo>
                    <a:pt x="116939" y="18768"/>
                    <a:pt x="139199" y="26624"/>
                    <a:pt x="162094" y="26290"/>
                  </a:cubicBezTo>
                  <a:lnTo>
                    <a:pt x="165080" y="26202"/>
                  </a:lnTo>
                  <a:cubicBezTo>
                    <a:pt x="169098" y="26019"/>
                    <a:pt x="172721" y="28604"/>
                    <a:pt x="173855" y="32463"/>
                  </a:cubicBezTo>
                  <a:cubicBezTo>
                    <a:pt x="182523" y="61951"/>
                    <a:pt x="178863" y="93693"/>
                    <a:pt x="163710" y="120434"/>
                  </a:cubicBezTo>
                  <a:cubicBezTo>
                    <a:pt x="148558" y="147175"/>
                    <a:pt x="123208" y="166628"/>
                    <a:pt x="93458" y="174346"/>
                  </a:cubicBezTo>
                  <a:cubicBezTo>
                    <a:pt x="92020" y="174718"/>
                    <a:pt x="90512" y="174718"/>
                    <a:pt x="89074" y="174346"/>
                  </a:cubicBezTo>
                  <a:cubicBezTo>
                    <a:pt x="59322" y="166630"/>
                    <a:pt x="33970" y="147178"/>
                    <a:pt x="18816" y="120437"/>
                  </a:cubicBezTo>
                  <a:cubicBezTo>
                    <a:pt x="3662" y="93696"/>
                    <a:pt x="0" y="61952"/>
                    <a:pt x="8668" y="32463"/>
                  </a:cubicBezTo>
                  <a:cubicBezTo>
                    <a:pt x="9802" y="28604"/>
                    <a:pt x="13426" y="26019"/>
                    <a:pt x="17443" y="26202"/>
                  </a:cubicBezTo>
                  <a:cubicBezTo>
                    <a:pt x="41345" y="27295"/>
                    <a:pt x="64793" y="19427"/>
                    <a:pt x="83198" y="4139"/>
                  </a:cubicBezTo>
                  <a:lnTo>
                    <a:pt x="85495" y="2174"/>
                  </a:lnTo>
                  <a:lnTo>
                    <a:pt x="86333" y="1519"/>
                  </a:lnTo>
                  <a:cubicBezTo>
                    <a:pt x="86922" y="1117"/>
                    <a:pt x="87558" y="788"/>
                    <a:pt x="88227" y="541"/>
                  </a:cubicBezTo>
                  <a:lnTo>
                    <a:pt x="89205" y="244"/>
                  </a:lnTo>
                  <a:cubicBezTo>
                    <a:pt x="89548" y="162"/>
                    <a:pt x="89895" y="101"/>
                    <a:pt x="90244" y="61"/>
                  </a:cubicBezTo>
                  <a:close/>
                </a:path>
              </a:pathLst>
            </a:custGeom>
            <a:solidFill>
              <a:srgbClr val="38A169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3464242" y="47334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故障隔离</a:t>
              </a:r>
              <a:endParaRPr lang="zh-CN" sz="975" b="1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466148" y="4940141"/>
              <a:ext cx="11210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单阶段失败不影响整体</a:t>
              </a:r>
              <a:endParaRPr lang="zh-CN" sz="825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5524500" y="4572000"/>
            <a:ext cx="2286000" cy="762000"/>
            <a:chOff x="5524500" y="4572000"/>
            <a:chExt cx="2286000" cy="762000"/>
          </a:xfrm>
        </p:grpSpPr>
        <p:sp>
          <p:nvSpPr>
            <p:cNvPr id="74" name="Rectangle 74"/>
            <p:cNvSpPr/>
            <p:nvPr/>
          </p:nvSpPr>
          <p:spPr>
            <a:xfrm>
              <a:off x="5524500" y="4572000"/>
              <a:ext cx="2286000" cy="762000"/>
            </a:xfrm>
            <a:prstGeom prst="roundRect">
              <a:avLst>
                <a:gd name="adj" fmla="val 12500"/>
              </a:avLst>
            </a:prstGeom>
            <a:solidFill>
              <a:srgbClr val="F7FAFC"/>
            </a:solidFill>
            <a:ln w="9525">
              <a:solidFill>
                <a:srgbClr val="E2E8F0"/>
              </a:solidFill>
            </a:ln>
          </p:spPr>
        </p:sp>
        <p:sp>
          <p:nvSpPr>
            <p:cNvPr id="75" name="Freeform 75"/>
            <p:cNvSpPr/>
            <p:nvPr/>
          </p:nvSpPr>
          <p:spPr>
            <a:xfrm>
              <a:off x="5678778" y="4726278"/>
              <a:ext cx="186744" cy="186744"/>
            </a:xfrm>
            <a:custGeom>
              <a:avLst/>
              <a:gdLst/>
              <a:ahLst/>
              <a:cxnLst/>
              <a:rect l="l" t="t" r="r" b="b"/>
              <a:pathLst>
                <a:path w="186744" h="186744">
                  <a:moveTo>
                    <a:pt x="116484" y="24229"/>
                  </a:moveTo>
                  <a:cubicBezTo>
                    <a:pt x="116959" y="26190"/>
                    <a:pt x="118341" y="27807"/>
                    <a:pt x="120205" y="28580"/>
                  </a:cubicBezTo>
                  <a:cubicBezTo>
                    <a:pt x="122069" y="29353"/>
                    <a:pt x="124190" y="29190"/>
                    <a:pt x="125913" y="28141"/>
                  </a:cubicBezTo>
                  <a:cubicBezTo>
                    <a:pt x="147209" y="15175"/>
                    <a:pt x="171578" y="39535"/>
                    <a:pt x="158612" y="60831"/>
                  </a:cubicBezTo>
                  <a:cubicBezTo>
                    <a:pt x="157563" y="62553"/>
                    <a:pt x="157399" y="64673"/>
                    <a:pt x="158170" y="66536"/>
                  </a:cubicBezTo>
                  <a:cubicBezTo>
                    <a:pt x="158941" y="68399"/>
                    <a:pt x="160555" y="69783"/>
                    <a:pt x="162515" y="70260"/>
                  </a:cubicBezTo>
                  <a:cubicBezTo>
                    <a:pt x="186744" y="76137"/>
                    <a:pt x="186744" y="110599"/>
                    <a:pt x="162515" y="116484"/>
                  </a:cubicBezTo>
                  <a:cubicBezTo>
                    <a:pt x="160554" y="116959"/>
                    <a:pt x="158937" y="118341"/>
                    <a:pt x="158164" y="120205"/>
                  </a:cubicBezTo>
                  <a:cubicBezTo>
                    <a:pt x="157391" y="122069"/>
                    <a:pt x="157554" y="124190"/>
                    <a:pt x="158603" y="125913"/>
                  </a:cubicBezTo>
                  <a:cubicBezTo>
                    <a:pt x="171569" y="147209"/>
                    <a:pt x="147209" y="171578"/>
                    <a:pt x="125913" y="158612"/>
                  </a:cubicBezTo>
                  <a:cubicBezTo>
                    <a:pt x="124191" y="157563"/>
                    <a:pt x="122071" y="157399"/>
                    <a:pt x="120208" y="158170"/>
                  </a:cubicBezTo>
                  <a:cubicBezTo>
                    <a:pt x="118345" y="158941"/>
                    <a:pt x="116961" y="160555"/>
                    <a:pt x="116484" y="162515"/>
                  </a:cubicBezTo>
                  <a:cubicBezTo>
                    <a:pt x="110607" y="186744"/>
                    <a:pt x="76145" y="186744"/>
                    <a:pt x="70260" y="162515"/>
                  </a:cubicBezTo>
                  <a:cubicBezTo>
                    <a:pt x="69785" y="160554"/>
                    <a:pt x="68403" y="158937"/>
                    <a:pt x="66539" y="158164"/>
                  </a:cubicBezTo>
                  <a:cubicBezTo>
                    <a:pt x="64675" y="157391"/>
                    <a:pt x="62554" y="157554"/>
                    <a:pt x="60831" y="158603"/>
                  </a:cubicBezTo>
                  <a:cubicBezTo>
                    <a:pt x="39535" y="171569"/>
                    <a:pt x="15166" y="147209"/>
                    <a:pt x="28132" y="125913"/>
                  </a:cubicBezTo>
                  <a:cubicBezTo>
                    <a:pt x="29181" y="124191"/>
                    <a:pt x="29345" y="122071"/>
                    <a:pt x="28574" y="120208"/>
                  </a:cubicBezTo>
                  <a:cubicBezTo>
                    <a:pt x="27803" y="118345"/>
                    <a:pt x="26189" y="116961"/>
                    <a:pt x="24229" y="116484"/>
                  </a:cubicBezTo>
                  <a:cubicBezTo>
                    <a:pt x="0" y="110607"/>
                    <a:pt x="0" y="76145"/>
                    <a:pt x="24229" y="70260"/>
                  </a:cubicBezTo>
                  <a:cubicBezTo>
                    <a:pt x="26190" y="69785"/>
                    <a:pt x="27807" y="68403"/>
                    <a:pt x="28580" y="66539"/>
                  </a:cubicBezTo>
                  <a:cubicBezTo>
                    <a:pt x="29353" y="64675"/>
                    <a:pt x="29190" y="62554"/>
                    <a:pt x="28141" y="60831"/>
                  </a:cubicBezTo>
                  <a:cubicBezTo>
                    <a:pt x="15175" y="39535"/>
                    <a:pt x="39535" y="15166"/>
                    <a:pt x="60831" y="28132"/>
                  </a:cubicBezTo>
                  <a:cubicBezTo>
                    <a:pt x="62552" y="29189"/>
                    <a:pt x="64675" y="29358"/>
                    <a:pt x="66541" y="28585"/>
                  </a:cubicBezTo>
                  <a:cubicBezTo>
                    <a:pt x="68407" y="27813"/>
                    <a:pt x="69790" y="26193"/>
                    <a:pt x="70260" y="24229"/>
                  </a:cubicBezTo>
                  <a:cubicBezTo>
                    <a:pt x="76137" y="0"/>
                    <a:pt x="110599" y="0"/>
                    <a:pt x="116484" y="24229"/>
                  </a:cubicBezTo>
                  <a:close/>
                  <a:moveTo>
                    <a:pt x="93372" y="67178"/>
                  </a:moveTo>
                  <a:cubicBezTo>
                    <a:pt x="78906" y="67178"/>
                    <a:pt x="67178" y="78906"/>
                    <a:pt x="67178" y="93372"/>
                  </a:cubicBezTo>
                  <a:cubicBezTo>
                    <a:pt x="67178" y="107838"/>
                    <a:pt x="78906" y="119566"/>
                    <a:pt x="93372" y="119566"/>
                  </a:cubicBezTo>
                  <a:cubicBezTo>
                    <a:pt x="107838" y="119566"/>
                    <a:pt x="119566" y="107838"/>
                    <a:pt x="119566" y="93372"/>
                  </a:cubicBezTo>
                  <a:cubicBezTo>
                    <a:pt x="119566" y="78906"/>
                    <a:pt x="107838" y="67178"/>
                    <a:pt x="93372" y="67178"/>
                  </a:cubicBezTo>
                </a:path>
              </a:pathLst>
            </a:custGeom>
            <a:solidFill>
              <a:srgbClr val="D4AF37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5940742" y="473344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独立调优</a:t>
              </a:r>
              <a:endParaRPr lang="zh-CN" sz="975" b="1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942648" y="4940141"/>
              <a:ext cx="14291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每Agent独立提示词+Schema</a:t>
              </a:r>
              <a:endParaRPr lang="zh-CN" sz="825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8334057" y="3761105"/>
            <a:ext cx="2605366" cy="1414091"/>
            <a:chOff x="8572500" y="3619500"/>
            <a:chExt cx="3048000" cy="1714500"/>
          </a:xfrm>
        </p:grpSpPr>
        <p:sp>
          <p:nvSpPr>
            <p:cNvPr id="79" name="Rectangle 79"/>
            <p:cNvSpPr/>
            <p:nvPr/>
          </p:nvSpPr>
          <p:spPr>
            <a:xfrm>
              <a:off x="8572500" y="3619500"/>
              <a:ext cx="3048000" cy="1714500"/>
            </a:xfrm>
            <a:prstGeom prst="roundRect">
              <a:avLst>
                <a:gd name="adj" fmla="val 6667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661208" y="3823335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全流程指标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536738" y="4059555"/>
              <a:ext cx="1119523" cy="391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D4AF3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3-5</a:t>
              </a:r>
              <a:r>
                <a:rPr lang="zh-CN" sz="2100" b="1" dirty="0">
                  <a:solidFill>
                    <a:srgbClr val="D4AF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 分钟</a:t>
              </a:r>
              <a:endParaRPr lang="zh-CN" sz="2100" b="1" dirty="0">
                <a:solidFill>
                  <a:srgbClr val="D4AF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9680388" y="4455419"/>
              <a:ext cx="86296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端到端生成耗时</a:t>
              </a:r>
              <a:endParaRPr lang="zh-CN" sz="900" dirty="0">
                <a:solidFill>
                  <a:srgbClr val="FFFFFF">
                    <a:alphaMod val="7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9586511" y="4535805"/>
              <a:ext cx="1019977" cy="3911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D4AF3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~10,300</a:t>
              </a:r>
              <a:endParaRPr lang="zh-CN" sz="2100" b="1" dirty="0">
                <a:solidFill>
                  <a:srgbClr val="D4AF37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726594" y="4907081"/>
              <a:ext cx="71294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总Token消耗</a:t>
              </a:r>
              <a:endParaRPr lang="zh-CN" sz="900" dirty="0">
                <a:solidFill>
                  <a:srgbClr val="FFFFFF">
                    <a:alphaMod val="7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956929" y="5141595"/>
              <a:ext cx="227914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Mod val="5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4种格式导出: JSON / Excel / PDF / Word</a:t>
              </a:r>
              <a:endParaRPr lang="zh-CN" sz="900" dirty="0">
                <a:solidFill>
                  <a:srgbClr val="FFFFFF">
                    <a:alphaMod val="5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pic>
        <p:nvPicPr>
          <p:cNvPr id="87" name="Image 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4122" y="6000750"/>
            <a:ext cx="1688757" cy="762000"/>
          </a:xfrm>
          <a:prstGeom prst="rect">
            <a:avLst/>
          </a:prstGeom>
        </p:spPr>
      </p:pic>
      <p:sp>
        <p:nvSpPr>
          <p:cNvPr id="88" name="TextBox 88"/>
          <p:cNvSpPr txBox="1"/>
          <p:nvPr/>
        </p:nvSpPr>
        <p:spPr>
          <a:xfrm>
            <a:off x="5916549" y="6379845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5 / 12</a:t>
            </a:r>
            <a:endParaRPr lang="zh-CN" sz="900" dirty="0">
              <a:solidFill>
                <a:srgbClr val="A0AE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2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47" y="206375"/>
            <a:ext cx="1259417" cy="476250"/>
          </a:xfrm>
          <a:prstGeom prst="rect">
            <a:avLst/>
          </a:prstGeom>
        </p:spPr>
      </p:pic>
      <p:pic>
        <p:nvPicPr>
          <p:cNvPr id="89" name="图片 8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472" y="206816"/>
            <a:ext cx="3217472" cy="459501"/>
          </a:xfrm>
          <a:prstGeom prst="rect">
            <a:avLst/>
          </a:prstGeom>
        </p:spPr>
      </p:pic>
      <p:sp>
        <p:nvSpPr>
          <p:cNvPr id="4" name="Freeform 43"/>
          <p:cNvSpPr/>
          <p:nvPr/>
        </p:nvSpPr>
        <p:spPr>
          <a:xfrm>
            <a:off x="10026650" y="2425065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9050">
            <a:solidFill>
              <a:srgbClr val="718096"/>
            </a:solidFill>
            <a:tailEnd type="triangle" w="lg" len="lg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1020" y="807720"/>
            <a:ext cx="241325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365D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rPr>
              <a:t>核心创新（上）</a:t>
            </a:r>
            <a:endParaRPr lang="zh-CN" sz="2400" b="1" dirty="0">
              <a:solidFill>
                <a:srgbClr val="1A365D"/>
              </a:solidFill>
              <a:latin typeface="Georgia" panose="02040502050405020303"/>
              <a:ea typeface="微软雅黑" panose="020B0503020204020204" charset="-122"/>
              <a:cs typeface="Georgia" panose="020405020504050203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8165" y="1191578"/>
            <a:ext cx="391985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创新一：多Agent协同架构 · 创新二：7层级联JSON解析器</a:t>
            </a:r>
            <a:endParaRPr lang="zh-CN" sz="12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37" name="Group 37"/>
          <p:cNvGrpSpPr/>
          <p:nvPr/>
        </p:nvGrpSpPr>
        <p:grpSpPr>
          <a:xfrm>
            <a:off x="571500" y="1571625"/>
            <a:ext cx="5334000" cy="4381500"/>
            <a:chOff x="571500" y="1571625"/>
            <a:chExt cx="5334000" cy="4381500"/>
          </a:xfrm>
        </p:grpSpPr>
        <p:sp>
          <p:nvSpPr>
            <p:cNvPr id="8" name="Rectangle 8"/>
            <p:cNvSpPr/>
            <p:nvPr/>
          </p:nvSpPr>
          <p:spPr>
            <a:xfrm>
              <a:off x="571500" y="1571625"/>
              <a:ext cx="5334000" cy="4381500"/>
            </a:xfrm>
            <a:prstGeom prst="roundRect">
              <a:avLst>
                <a:gd name="adj" fmla="val 2609"/>
              </a:avLst>
            </a:prstGeom>
            <a:solidFill>
              <a:srgbClr val="F7FAFC"/>
            </a:solidFill>
            <a:ln w="19050">
              <a:solidFill>
                <a:srgbClr val="2B6CB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571625"/>
              <a:ext cx="5334000" cy="76200"/>
            </a:xfrm>
            <a:prstGeom prst="roundRect">
              <a:avLst>
                <a:gd name="adj" fmla="val 50000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36295" y="18221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B6CB0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创新一</a:t>
              </a:r>
              <a:endParaRPr lang="zh-CN" sz="1650" b="1" dirty="0">
                <a:solidFill>
                  <a:srgbClr val="2B6CB0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52575" y="1882140"/>
              <a:ext cx="1925955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1A365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多Agent流水线协同架构</a:t>
              </a:r>
              <a:endParaRPr lang="zh-CN" sz="1400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857250" y="2143125"/>
              <a:ext cx="47625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3915" y="2315528"/>
              <a:ext cx="609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53E3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传统痛点</a:t>
              </a:r>
              <a:endParaRPr lang="zh-CN" sz="1200" b="1" dirty="0">
                <a:solidFill>
                  <a:srgbClr val="E53E3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4868" y="2533174"/>
              <a:ext cx="404749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sz="12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单一模型完成所有任务 → 输出质量不稳定、难以针对性优化</a:t>
              </a:r>
              <a:endParaRPr lang="zh-CN" sz="1200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3915" y="2839402"/>
              <a:ext cx="609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38A1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解决方案</a:t>
              </a:r>
              <a:endParaRPr lang="zh-CN" sz="1200" b="1" dirty="0">
                <a:solidFill>
                  <a:srgbClr val="38A1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4868" y="3057049"/>
              <a:ext cx="261556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将学练测流程分解为6个专业化Agent：</a:t>
              </a:r>
              <a:endParaRPr lang="zh-CN" sz="1200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857250" y="3333750"/>
              <a:ext cx="4714875" cy="685800"/>
              <a:chOff x="857250" y="3333750"/>
              <a:chExt cx="4714875" cy="68580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857250" y="3333750"/>
                <a:ext cx="1476375" cy="304800"/>
              </a:xfrm>
              <a:prstGeom prst="roundRect">
                <a:avLst>
                  <a:gd name="adj" fmla="val 18750"/>
                </a:avLst>
              </a:prstGeom>
              <a:solidFill>
                <a:srgbClr val="2B6CB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074822" y="3444716"/>
                <a:ext cx="103170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2B6CB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RequirementAgent</a:t>
                </a:r>
                <a:endParaRPr lang="zh-CN" sz="825" b="1" dirty="0">
                  <a:solidFill>
                    <a:srgbClr val="2B6CB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2476500" y="3333750"/>
                <a:ext cx="1476375" cy="304800"/>
              </a:xfrm>
              <a:prstGeom prst="roundRect">
                <a:avLst>
                  <a:gd name="adj" fmla="val 18750"/>
                </a:avLst>
              </a:prstGeom>
              <a:solidFill>
                <a:srgbClr val="D4AF37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2725838" y="3444716"/>
                <a:ext cx="96817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D4AF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ResumeEvaluator</a:t>
                </a:r>
                <a:endParaRPr lang="zh-CN" sz="825" b="1" dirty="0">
                  <a:solidFill>
                    <a:srgbClr val="D4AF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1" name="Rectangle 21"/>
              <p:cNvSpPr/>
              <p:nvPr/>
            </p:nvSpPr>
            <p:spPr>
              <a:xfrm>
                <a:off x="4095750" y="3333750"/>
                <a:ext cx="1476375" cy="304800"/>
              </a:xfrm>
              <a:prstGeom prst="roundRect">
                <a:avLst>
                  <a:gd name="adj" fmla="val 18750"/>
                </a:avLst>
              </a:prstGeom>
              <a:solidFill>
                <a:srgbClr val="38A169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4356640" y="3444716"/>
                <a:ext cx="94507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38A1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LearningContent</a:t>
                </a:r>
                <a:endParaRPr lang="zh-CN" sz="825" b="1" dirty="0">
                  <a:solidFill>
                    <a:srgbClr val="38A1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Rectangle 23"/>
              <p:cNvSpPr/>
              <p:nvPr/>
            </p:nvSpPr>
            <p:spPr>
              <a:xfrm>
                <a:off x="857250" y="3714750"/>
                <a:ext cx="1476375" cy="304800"/>
              </a:xfrm>
              <a:prstGeom prst="roundRect">
                <a:avLst>
                  <a:gd name="adj" fmla="val 18750"/>
                </a:avLst>
              </a:prstGeom>
              <a:solidFill>
                <a:srgbClr val="E53E3E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227878" y="3825716"/>
                <a:ext cx="72559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E53E3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TrainingTask</a:t>
                </a:r>
                <a:endParaRPr lang="zh-CN" sz="825" b="1" dirty="0">
                  <a:solidFill>
                    <a:srgbClr val="E53E3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5" name="Rectangle 25"/>
              <p:cNvSpPr/>
              <p:nvPr/>
            </p:nvSpPr>
            <p:spPr>
              <a:xfrm>
                <a:off x="2476500" y="3714750"/>
                <a:ext cx="1476375" cy="304800"/>
              </a:xfrm>
              <a:prstGeom prst="roundRect">
                <a:avLst>
                  <a:gd name="adj" fmla="val 18750"/>
                </a:avLst>
              </a:prstGeom>
              <a:solidFill>
                <a:srgbClr val="9C27B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2786483" y="3825716"/>
                <a:ext cx="84688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9C27B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TestGenerator</a:t>
                </a:r>
                <a:endParaRPr lang="zh-CN" sz="825" b="1" dirty="0">
                  <a:solidFill>
                    <a:srgbClr val="9C27B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7" name="Rectangle 27"/>
              <p:cNvSpPr/>
              <p:nvPr/>
            </p:nvSpPr>
            <p:spPr>
              <a:xfrm>
                <a:off x="4095750" y="3714750"/>
                <a:ext cx="1476375" cy="304800"/>
              </a:xfrm>
              <a:prstGeom prst="roundRect">
                <a:avLst>
                  <a:gd name="adj" fmla="val 18750"/>
                </a:avLst>
              </a:prstGeom>
              <a:solidFill>
                <a:srgbClr val="FF980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330649" y="3825716"/>
                <a:ext cx="99705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980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AssessmentAgent</a:t>
                </a:r>
                <a:endParaRPr lang="zh-CN" sz="825" b="1" dirty="0">
                  <a:solidFill>
                    <a:srgbClr val="FF98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30" name="TextBox 30"/>
            <p:cNvSpPr txBox="1"/>
            <p:nvPr/>
          </p:nvSpPr>
          <p:spPr>
            <a:xfrm>
              <a:off x="843915" y="4268152"/>
              <a:ext cx="609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65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核心优势</a:t>
              </a:r>
              <a:endParaRPr lang="zh-CN" sz="1200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4868" y="4495324"/>
              <a:ext cx="192214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每个环节提示词可独立调优</a:t>
              </a:r>
              <a:endParaRPr lang="zh-CN" sz="1200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4868" y="4714399"/>
              <a:ext cx="283654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故障隔离性更强，单阶段失败不影响整体</a:t>
              </a:r>
              <a:endParaRPr lang="zh-CN" sz="1200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4868" y="4933474"/>
              <a:ext cx="237934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支持按需跳过或重新生成特定阶段</a:t>
              </a:r>
              <a:endParaRPr lang="zh-CN" sz="1200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4868" y="5152549"/>
              <a:ext cx="263334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SystemState共享数据总线实现松耦合</a:t>
              </a:r>
              <a:endParaRPr lang="zh-CN" sz="1200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57250" y="5476875"/>
              <a:ext cx="4762500" cy="333375"/>
            </a:xfrm>
            <a:prstGeom prst="roundRect">
              <a:avLst>
                <a:gd name="adj" fmla="val 17143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628868" y="5590699"/>
              <a:ext cx="32192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vs 单模型方案：每个环节可独立优化，质量提升显著</a:t>
              </a:r>
              <a:endParaRPr lang="zh-CN" sz="975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236970" y="1571625"/>
            <a:ext cx="5334000" cy="4381500"/>
            <a:chOff x="6286500" y="1571625"/>
            <a:chExt cx="5334000" cy="4381500"/>
          </a:xfrm>
        </p:grpSpPr>
        <p:sp>
          <p:nvSpPr>
            <p:cNvPr id="38" name="Rectangle 38"/>
            <p:cNvSpPr/>
            <p:nvPr/>
          </p:nvSpPr>
          <p:spPr>
            <a:xfrm>
              <a:off x="6286500" y="1571625"/>
              <a:ext cx="5334000" cy="4381500"/>
            </a:xfrm>
            <a:prstGeom prst="roundRect">
              <a:avLst>
                <a:gd name="adj" fmla="val 2609"/>
              </a:avLst>
            </a:prstGeom>
            <a:solidFill>
              <a:srgbClr val="F7FAFC"/>
            </a:solidFill>
            <a:ln w="19050">
              <a:solidFill>
                <a:srgbClr val="D4AF37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6286500" y="1571625"/>
              <a:ext cx="5334000" cy="762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51295" y="18221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D4AF37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创新二</a:t>
              </a:r>
              <a:endParaRPr lang="zh-CN" sz="1650" b="1" dirty="0">
                <a:solidFill>
                  <a:srgbClr val="D4AF37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251700" y="1882140"/>
              <a:ext cx="1650365" cy="215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00" b="1" dirty="0">
                  <a:solidFill>
                    <a:srgbClr val="1A365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7层级联JSON解析器</a:t>
              </a:r>
              <a:endParaRPr lang="zh-CN" sz="1400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572250" y="2143125"/>
              <a:ext cx="47625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58915" y="2315528"/>
              <a:ext cx="60960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E53E3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传统痛点</a:t>
              </a:r>
              <a:endParaRPr lang="zh-CN" sz="1200" b="1" dirty="0">
                <a:solidFill>
                  <a:srgbClr val="E53E3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59868" y="2533174"/>
              <a:ext cx="3293110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sz="12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LLM输出JSON常因截断、语法错误导致解析失败</a:t>
              </a:r>
              <a:endParaRPr lang="zh-CN" sz="1200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558915" y="2839402"/>
              <a:ext cx="8426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38A1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7层级联策略</a:t>
              </a:r>
              <a:endParaRPr lang="zh-CN" sz="1050" b="1" dirty="0">
                <a:solidFill>
                  <a:srgbClr val="38A1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6572250" y="3095625"/>
              <a:ext cx="4762500" cy="285750"/>
              <a:chOff x="6572250" y="3095625"/>
              <a:chExt cx="4762500" cy="28575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6572250" y="3095625"/>
                <a:ext cx="47625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2B6CB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6751320" y="3188970"/>
                <a:ext cx="70334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2B6CB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L1 直接解析</a:t>
                </a:r>
                <a:endParaRPr lang="zh-CN" sz="900" b="1" dirty="0">
                  <a:solidFill>
                    <a:srgbClr val="2B6CB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8465820" y="3188970"/>
                <a:ext cx="64093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命中率 62%</a:t>
                </a:r>
                <a:endPara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572250" y="3438525"/>
              <a:ext cx="4762500" cy="285750"/>
              <a:chOff x="6572250" y="3438525"/>
              <a:chExt cx="4762500" cy="28575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6572250" y="3438525"/>
                <a:ext cx="47625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D4AF37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6751320" y="3531870"/>
                <a:ext cx="115070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D4AF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L2 注释/尾逗号清理</a:t>
                </a:r>
                <a:endParaRPr lang="zh-CN" sz="900" b="1" dirty="0">
                  <a:solidFill>
                    <a:srgbClr val="D4AF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465820" y="3531870"/>
                <a:ext cx="31089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+15%</a:t>
                </a:r>
                <a:endPara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6572250" y="3781425"/>
              <a:ext cx="4762500" cy="285750"/>
              <a:chOff x="6572250" y="3781425"/>
              <a:chExt cx="4762500" cy="28575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6572250" y="3781425"/>
                <a:ext cx="47625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38A169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751320" y="3874770"/>
                <a:ext cx="70334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38A1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L3 语法修复</a:t>
                </a:r>
                <a:endParaRPr lang="zh-CN" sz="900" b="1" dirty="0">
                  <a:solidFill>
                    <a:srgbClr val="38A1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465820" y="3874770"/>
                <a:ext cx="24488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+8%</a:t>
                </a:r>
                <a:endPara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6572250" y="4124325"/>
              <a:ext cx="4762500" cy="285750"/>
              <a:chOff x="6572250" y="4124325"/>
              <a:chExt cx="4762500" cy="285750"/>
            </a:xfrm>
          </p:grpSpPr>
          <p:sp>
            <p:nvSpPr>
              <p:cNvPr id="58" name="Rectangle 58"/>
              <p:cNvSpPr/>
              <p:nvPr/>
            </p:nvSpPr>
            <p:spPr>
              <a:xfrm>
                <a:off x="6572250" y="4124325"/>
                <a:ext cx="47625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E53E3E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6751320" y="4217670"/>
                <a:ext cx="95537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E53E3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L4 括号深度匹配</a:t>
                </a:r>
                <a:endParaRPr lang="zh-CN" sz="900" b="1" dirty="0">
                  <a:solidFill>
                    <a:srgbClr val="E53E3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465820" y="4217670"/>
                <a:ext cx="24488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+5%</a:t>
                </a:r>
                <a:endPara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65" name="Group 65"/>
            <p:cNvGrpSpPr/>
            <p:nvPr/>
          </p:nvGrpSpPr>
          <p:grpSpPr>
            <a:xfrm>
              <a:off x="6572250" y="4467225"/>
              <a:ext cx="4762500" cy="285750"/>
              <a:chOff x="6572250" y="4467225"/>
              <a:chExt cx="4762500" cy="285750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6572250" y="4467225"/>
                <a:ext cx="47625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9C27B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6751320" y="4560570"/>
                <a:ext cx="70334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9C27B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L5 截断修复</a:t>
                </a:r>
                <a:endParaRPr lang="zh-CN" sz="900" b="1" dirty="0">
                  <a:solidFill>
                    <a:srgbClr val="9C27B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8465820" y="4560570"/>
                <a:ext cx="24488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+5%</a:t>
                </a:r>
                <a:endPara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6572250" y="4810125"/>
              <a:ext cx="4762500" cy="285750"/>
              <a:chOff x="6572250" y="4810125"/>
              <a:chExt cx="4762500" cy="285750"/>
            </a:xfrm>
          </p:grpSpPr>
          <p:sp>
            <p:nvSpPr>
              <p:cNvPr id="66" name="Rectangle 66"/>
              <p:cNvSpPr/>
              <p:nvPr/>
            </p:nvSpPr>
            <p:spPr>
              <a:xfrm>
                <a:off x="6572250" y="4810125"/>
                <a:ext cx="4762500" cy="285750"/>
              </a:xfrm>
              <a:prstGeom prst="roundRect">
                <a:avLst>
                  <a:gd name="adj" fmla="val 20000"/>
                </a:avLst>
              </a:prstGeom>
              <a:solidFill>
                <a:srgbClr val="FF980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6751320" y="4903470"/>
                <a:ext cx="95537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980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L6 正则字段提取</a:t>
                </a:r>
                <a:endParaRPr lang="zh-CN" sz="900" b="1" dirty="0">
                  <a:solidFill>
                    <a:srgbClr val="FF98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8465820" y="4903470"/>
                <a:ext cx="24488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+3%</a:t>
                </a:r>
                <a:endPara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70" name="Rectangle 70"/>
            <p:cNvSpPr/>
            <p:nvPr/>
          </p:nvSpPr>
          <p:spPr>
            <a:xfrm>
              <a:off x="6572250" y="5238750"/>
              <a:ext cx="4762500" cy="523875"/>
            </a:xfrm>
            <a:prstGeom prst="roundRect">
              <a:avLst>
                <a:gd name="adj" fmla="val 18182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8239125" y="5282565"/>
              <a:ext cx="142875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D4AF3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75% → 98.5%</a:t>
              </a:r>
              <a:endParaRPr lang="zh-CN" sz="1800" b="1" dirty="0">
                <a:solidFill>
                  <a:srgbClr val="D4AF37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828931" y="5570220"/>
              <a:ext cx="224913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>
                      <a:alphaMod val="8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解析成功率 · 配合降级方案达到100%可用</a:t>
              </a:r>
              <a:endParaRPr lang="zh-CN" sz="900" dirty="0">
                <a:solidFill>
                  <a:srgbClr val="FFFFFF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pic>
        <p:nvPicPr>
          <p:cNvPr id="74" name="Image 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4122" y="6000750"/>
            <a:ext cx="1688757" cy="762000"/>
          </a:xfrm>
          <a:prstGeom prst="rect">
            <a:avLst/>
          </a:prstGeom>
        </p:spPr>
      </p:pic>
      <p:sp>
        <p:nvSpPr>
          <p:cNvPr id="75" name="TextBox 75"/>
          <p:cNvSpPr txBox="1"/>
          <p:nvPr/>
        </p:nvSpPr>
        <p:spPr>
          <a:xfrm>
            <a:off x="5916549" y="6379845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 / 12</a:t>
            </a:r>
            <a:endParaRPr lang="zh-CN" sz="900" dirty="0">
              <a:solidFill>
                <a:srgbClr val="A0AE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2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47" y="206375"/>
            <a:ext cx="1259417" cy="476250"/>
          </a:xfrm>
          <a:prstGeom prst="rect">
            <a:avLst/>
          </a:prstGeom>
        </p:spPr>
      </p:pic>
      <p:pic>
        <p:nvPicPr>
          <p:cNvPr id="76" name="图片 7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472" y="206816"/>
            <a:ext cx="3217472" cy="4595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1020" y="807720"/>
            <a:ext cx="241325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365D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rPr>
              <a:t>核心创新（下）</a:t>
            </a:r>
            <a:endParaRPr lang="zh-CN" sz="2400" b="1" dirty="0">
              <a:solidFill>
                <a:srgbClr val="1A365D"/>
              </a:solidFill>
              <a:latin typeface="Georgia" panose="02040502050405020303"/>
              <a:ea typeface="微软雅黑" panose="020B0503020204020204" charset="-122"/>
              <a:cs typeface="Georgia" panose="020405020504050203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8165" y="1191578"/>
            <a:ext cx="438658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创新三：三层记忆伴学 · 创新四：渐进重试 · 创新五：上下文再生</a:t>
            </a:r>
            <a:endParaRPr lang="zh-CN" sz="12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571500" y="1571625"/>
            <a:ext cx="5334000" cy="2381250"/>
          </a:xfrm>
          <a:prstGeom prst="roundRect">
            <a:avLst>
              <a:gd name="adj" fmla="val 4800"/>
            </a:avLst>
          </a:prstGeom>
          <a:solidFill>
            <a:srgbClr val="F7FAFC"/>
          </a:solidFill>
          <a:ln w="19050">
            <a:solidFill>
              <a:srgbClr val="38A169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571500" y="1571625"/>
            <a:ext cx="5334000" cy="76200"/>
          </a:xfrm>
          <a:prstGeom prst="roundRect">
            <a:avLst>
              <a:gd name="adj" fmla="val 50000"/>
            </a:avLst>
          </a:prstGeom>
          <a:solidFill>
            <a:srgbClr val="38A169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36295" y="1821815"/>
            <a:ext cx="73469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38A169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rPr>
              <a:t>创新三</a:t>
            </a:r>
            <a:endParaRPr lang="zh-CN" sz="1650" b="1" dirty="0">
              <a:solidFill>
                <a:srgbClr val="38A169"/>
              </a:solidFill>
              <a:latin typeface="Georgia" panose="02040502050405020303"/>
              <a:ea typeface="微软雅黑" panose="020B0503020204020204" charset="-122"/>
              <a:cs typeface="Georgia" panose="02040502050405020303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536700" y="1881823"/>
            <a:ext cx="177800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400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三层记忆增强伴学系统</a:t>
            </a:r>
            <a:endParaRPr lang="zh-CN" sz="1400" b="1" dirty="0">
              <a:solidFill>
                <a:srgbClr val="1A365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Rectangle 12"/>
          <p:cNvSpPr/>
          <p:nvPr/>
        </p:nvSpPr>
        <p:spPr>
          <a:xfrm>
            <a:off x="857250" y="2143125"/>
            <a:ext cx="47625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 rot="0">
            <a:off x="731520" y="2277110"/>
            <a:ext cx="1476375" cy="571500"/>
            <a:chOff x="857250" y="2286000"/>
            <a:chExt cx="1476375" cy="571500"/>
          </a:xfrm>
        </p:grpSpPr>
        <p:sp>
          <p:nvSpPr>
            <p:cNvPr id="13" name="Rectangle 13"/>
            <p:cNvSpPr/>
            <p:nvPr/>
          </p:nvSpPr>
          <p:spPr>
            <a:xfrm>
              <a:off x="857250" y="2286000"/>
              <a:ext cx="1476375" cy="571500"/>
            </a:xfrm>
            <a:prstGeom prst="roundRect">
              <a:avLst>
                <a:gd name="adj" fmla="val 13333"/>
              </a:avLst>
            </a:prstGeom>
            <a:solidFill>
              <a:srgbClr val="2B6CB0">
                <a:alpha val="10000"/>
              </a:srgbClr>
            </a:solidFill>
            <a:ln w="9525">
              <a:solidFill>
                <a:srgbClr val="2B6CB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305258" y="2390299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b="1" dirty="0">
                  <a:solidFill>
                    <a:srgbClr val="2B6CB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短期记忆</a:t>
              </a:r>
              <a:endParaRPr lang="zh-CN" sz="975" b="1" dirty="0">
                <a:solidFill>
                  <a:srgbClr val="2B6CB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44656" y="2596991"/>
              <a:ext cx="69203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滑动窗口20轮</a:t>
              </a:r>
              <a:endParaRPr lang="zh-CN" sz="825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7" name="Freeform 17"/>
          <p:cNvSpPr/>
          <p:nvPr/>
        </p:nvSpPr>
        <p:spPr>
          <a:xfrm>
            <a:off x="2255520" y="256286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4288">
            <a:solidFill>
              <a:srgbClr val="718096"/>
            </a:solidFill>
          </a:ln>
        </p:spPr>
      </p:sp>
      <p:grpSp>
        <p:nvGrpSpPr>
          <p:cNvPr id="21" name="Group 21"/>
          <p:cNvGrpSpPr/>
          <p:nvPr/>
        </p:nvGrpSpPr>
        <p:grpSpPr>
          <a:xfrm rot="0">
            <a:off x="2493645" y="2277110"/>
            <a:ext cx="1476375" cy="571500"/>
            <a:chOff x="2619375" y="2286000"/>
            <a:chExt cx="1476375" cy="571500"/>
          </a:xfrm>
        </p:grpSpPr>
        <p:sp>
          <p:nvSpPr>
            <p:cNvPr id="18" name="Rectangle 18"/>
            <p:cNvSpPr/>
            <p:nvPr/>
          </p:nvSpPr>
          <p:spPr>
            <a:xfrm>
              <a:off x="2619375" y="2286000"/>
              <a:ext cx="1476375" cy="571500"/>
            </a:xfrm>
            <a:prstGeom prst="roundRect">
              <a:avLst>
                <a:gd name="adj" fmla="val 13333"/>
              </a:avLst>
            </a:prstGeom>
            <a:solidFill>
              <a:srgbClr val="D4AF37">
                <a:alpha val="10000"/>
              </a:srgbClr>
            </a:solidFill>
            <a:ln w="9525">
              <a:solidFill>
                <a:srgbClr val="D4AF37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102731" y="2390299"/>
              <a:ext cx="500137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975" b="1" dirty="0">
                  <a:solidFill>
                    <a:srgbClr val="D4AF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长</a:t>
              </a:r>
              <a:r>
                <a:rPr lang="zh-CN" sz="975" b="1" dirty="0">
                  <a:solidFill>
                    <a:srgbClr val="D4AF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期记忆</a:t>
              </a:r>
              <a:endParaRPr lang="zh-CN" sz="975" b="1" dirty="0">
                <a:solidFill>
                  <a:srgbClr val="D4AF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020532" y="2596991"/>
              <a:ext cx="66453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LLM摘要压缩</a:t>
              </a:r>
              <a:endParaRPr lang="zh-CN" sz="825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4017645" y="2562860"/>
            <a:ext cx="190500" cy="9525"/>
          </a:xfrm>
          <a:custGeom>
            <a:avLst/>
            <a:gdLst/>
            <a:ahLst/>
            <a:cxnLst/>
            <a:rect l="l" t="t" r="r" b="b"/>
            <a:pathLst>
              <a:path w="190500" h="9525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14288">
            <a:solidFill>
              <a:srgbClr val="718096"/>
            </a:solidFill>
          </a:ln>
        </p:spPr>
      </p:sp>
      <p:grpSp>
        <p:nvGrpSpPr>
          <p:cNvPr id="26" name="Group 26"/>
          <p:cNvGrpSpPr/>
          <p:nvPr/>
        </p:nvGrpSpPr>
        <p:grpSpPr>
          <a:xfrm rot="0">
            <a:off x="4255770" y="2277110"/>
            <a:ext cx="1476375" cy="571500"/>
            <a:chOff x="4381500" y="2286000"/>
            <a:chExt cx="1476375" cy="571500"/>
          </a:xfrm>
        </p:grpSpPr>
        <p:sp>
          <p:nvSpPr>
            <p:cNvPr id="23" name="Rectangle 23"/>
            <p:cNvSpPr/>
            <p:nvPr/>
          </p:nvSpPr>
          <p:spPr>
            <a:xfrm>
              <a:off x="4381500" y="2286000"/>
              <a:ext cx="1476375" cy="571500"/>
            </a:xfrm>
            <a:prstGeom prst="roundRect">
              <a:avLst>
                <a:gd name="adj" fmla="val 13333"/>
              </a:avLst>
            </a:prstGeom>
            <a:solidFill>
              <a:srgbClr val="E53E3E">
                <a:alpha val="10000"/>
              </a:srgbClr>
            </a:solidFill>
            <a:ln w="9525">
              <a:solidFill>
                <a:srgbClr val="E53E3E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864856" y="2390299"/>
              <a:ext cx="500137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altLang="en-US" sz="975" b="1" dirty="0">
                  <a:solidFill>
                    <a:srgbClr val="E53E3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关键</a:t>
              </a:r>
              <a:r>
                <a:rPr lang="zh-CN" sz="975" b="1" dirty="0">
                  <a:solidFill>
                    <a:srgbClr val="E53E3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记忆</a:t>
              </a:r>
              <a:endParaRPr lang="zh-CN" sz="975" b="1" dirty="0">
                <a:solidFill>
                  <a:srgbClr val="E53E3E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29413" y="2596991"/>
              <a:ext cx="5710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结构化提取</a:t>
              </a:r>
              <a:endParaRPr lang="zh-CN" sz="825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843915" y="3077845"/>
            <a:ext cx="32067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效果</a:t>
            </a:r>
            <a:endParaRPr lang="zh-CN" sz="1050" b="1" dirty="0">
              <a:solidFill>
                <a:srgbClr val="1A365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45185" y="3295015"/>
            <a:ext cx="286575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· 跨会话记住学生特点：偏好、薄弱点、常问话题</a:t>
            </a:r>
            <a:endParaRPr lang="zh-CN" sz="975" dirty="0">
              <a:solidFill>
                <a:srgbClr val="2D374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845185" y="3504565"/>
            <a:ext cx="236537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· 记忆连贯性评分较无记忆方案提升 43%</a:t>
            </a:r>
            <a:endParaRPr lang="zh-CN" sz="975" dirty="0">
              <a:solidFill>
                <a:srgbClr val="2D374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30" name="Rectangle 30"/>
          <p:cNvSpPr/>
          <p:nvPr/>
        </p:nvSpPr>
        <p:spPr>
          <a:xfrm>
            <a:off x="857250" y="3714750"/>
            <a:ext cx="1905000" cy="190500"/>
          </a:xfrm>
          <a:prstGeom prst="roundRect">
            <a:avLst>
              <a:gd name="adj" fmla="val 50000"/>
            </a:avLst>
          </a:prstGeom>
          <a:solidFill>
            <a:srgbClr val="38A169">
              <a:alpha val="15000"/>
            </a:srgbClr>
          </a:solidFill>
          <a:ln>
            <a:noFill/>
          </a:ln>
        </p:spPr>
      </p:sp>
      <p:sp>
        <p:nvSpPr>
          <p:cNvPr id="31" name="TextBox 31"/>
          <p:cNvSpPr txBox="1"/>
          <p:nvPr/>
        </p:nvSpPr>
        <p:spPr>
          <a:xfrm>
            <a:off x="1458595" y="3728720"/>
            <a:ext cx="70167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38A169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rPr>
              <a:t>2.8 → 4.0 分</a:t>
            </a:r>
            <a:endParaRPr lang="zh-CN" sz="1050" b="1" dirty="0">
              <a:solidFill>
                <a:srgbClr val="38A169"/>
              </a:solidFill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grpSp>
        <p:nvGrpSpPr>
          <p:cNvPr id="45" name="Group 45"/>
          <p:cNvGrpSpPr/>
          <p:nvPr/>
        </p:nvGrpSpPr>
        <p:grpSpPr>
          <a:xfrm>
            <a:off x="6286500" y="1571625"/>
            <a:ext cx="2571750" cy="2381250"/>
            <a:chOff x="6286500" y="1571625"/>
            <a:chExt cx="2571750" cy="2381250"/>
          </a:xfrm>
        </p:grpSpPr>
        <p:sp>
          <p:nvSpPr>
            <p:cNvPr id="33" name="Rectangle 33"/>
            <p:cNvSpPr/>
            <p:nvPr/>
          </p:nvSpPr>
          <p:spPr>
            <a:xfrm>
              <a:off x="6286500" y="1571625"/>
              <a:ext cx="2571750" cy="2381250"/>
            </a:xfrm>
            <a:prstGeom prst="roundRect">
              <a:avLst>
                <a:gd name="adj" fmla="val 4800"/>
              </a:avLst>
            </a:prstGeom>
            <a:solidFill>
              <a:srgbClr val="F7FAFC"/>
            </a:solidFill>
            <a:ln w="19050">
              <a:solidFill>
                <a:srgbClr val="E53E3E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286500" y="1571625"/>
              <a:ext cx="2571750" cy="76200"/>
            </a:xfrm>
            <a:prstGeom prst="roundRect">
              <a:avLst>
                <a:gd name="adj" fmla="val 50000"/>
              </a:avLst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456045" y="18221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53E3E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创新四</a:t>
              </a:r>
              <a:endParaRPr lang="zh-CN" sz="1650" b="1" dirty="0">
                <a:solidFill>
                  <a:srgbClr val="E53E3E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461760" y="2108835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65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渐进式重试</a:t>
              </a:r>
              <a:endParaRPr lang="zh-CN" sz="1200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477000" y="2333625"/>
              <a:ext cx="219075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64618" y="2466499"/>
              <a:ext cx="119491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温度递增重试机制：</a:t>
              </a:r>
              <a:endParaRPr lang="zh-CN" sz="975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465570" y="2693670"/>
              <a:ext cx="8929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0.6 → 0.7 → 0.8</a:t>
              </a:r>
              <a:endPara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65570" y="2903220"/>
              <a:ext cx="6889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最多3次重试</a:t>
              </a:r>
              <a:endPara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464618" y="31332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降级方案：</a:t>
              </a:r>
              <a:endParaRPr lang="zh-CN" sz="975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65570" y="3360420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自动生成基础任务</a:t>
              </a:r>
              <a:endPara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477000" y="3619500"/>
              <a:ext cx="2190750" cy="238125"/>
            </a:xfrm>
            <a:prstGeom prst="roundRect">
              <a:avLst>
                <a:gd name="adj" fmla="val 24000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119890" y="3674745"/>
              <a:ext cx="9049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永不输出空数据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9048750" y="1571625"/>
            <a:ext cx="2571750" cy="2381250"/>
            <a:chOff x="9048750" y="1571625"/>
            <a:chExt cx="2571750" cy="2381250"/>
          </a:xfrm>
        </p:grpSpPr>
        <p:sp>
          <p:nvSpPr>
            <p:cNvPr id="46" name="Rectangle 46"/>
            <p:cNvSpPr/>
            <p:nvPr/>
          </p:nvSpPr>
          <p:spPr>
            <a:xfrm>
              <a:off x="9048750" y="1571625"/>
              <a:ext cx="2571750" cy="2381250"/>
            </a:xfrm>
            <a:prstGeom prst="roundRect">
              <a:avLst>
                <a:gd name="adj" fmla="val 4800"/>
              </a:avLst>
            </a:prstGeom>
            <a:solidFill>
              <a:srgbClr val="F7FAFC"/>
            </a:solidFill>
            <a:ln w="19050">
              <a:solidFill>
                <a:srgbClr val="FF9800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9048750" y="1571625"/>
              <a:ext cx="2571750" cy="76200"/>
            </a:xfrm>
            <a:prstGeom prst="roundRect">
              <a:avLst>
                <a:gd name="adj" fmla="val 50000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218295" y="1822132"/>
              <a:ext cx="73499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9800"/>
                  </a:soli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创新五</a:t>
              </a:r>
              <a:endParaRPr lang="zh-CN" sz="1650" b="1" dirty="0">
                <a:solidFill>
                  <a:srgbClr val="FF9800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224010" y="2108835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365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上下文感知再生</a:t>
              </a:r>
              <a:endParaRPr lang="zh-CN" sz="1200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239250" y="2333625"/>
              <a:ext cx="219075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226868" y="2466499"/>
              <a:ext cx="13249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按需重新生成特定阶段</a:t>
              </a:r>
              <a:endParaRPr lang="zh-CN" sz="975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227820" y="2661920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自动注入上下文：</a:t>
              </a:r>
              <a:endPara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227820" y="2871470"/>
              <a:ext cx="8269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已完成模块ID</a:t>
              </a:r>
              <a:endPara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27820" y="3061970"/>
              <a:ext cx="82696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已标记任务ID</a:t>
              </a:r>
              <a:endPara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227820" y="3252470"/>
              <a:ext cx="844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上次考核分数</a:t>
              </a:r>
              <a:endPara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227820" y="3442970"/>
              <a:ext cx="12950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· 薄弱技能点(分数&lt;60)</a:t>
              </a:r>
              <a:endPara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239250" y="3619500"/>
              <a:ext cx="2190750" cy="238125"/>
            </a:xfrm>
            <a:prstGeom prst="roundRect">
              <a:avLst>
                <a:gd name="adj" fmla="val 24000"/>
              </a:avLst>
            </a:prstGeom>
            <a:solidFill>
              <a:srgbClr val="1A365D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10008156" y="3674745"/>
              <a:ext cx="6529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针对性补强</a:t>
              </a:r>
              <a:endPara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60" name="Rectangle 60"/>
          <p:cNvSpPr/>
          <p:nvPr/>
        </p:nvSpPr>
        <p:spPr>
          <a:xfrm>
            <a:off x="571500" y="4191000"/>
            <a:ext cx="11049000" cy="1809750"/>
          </a:xfrm>
          <a:prstGeom prst="roundRect">
            <a:avLst>
              <a:gd name="adj" fmla="val 6316"/>
            </a:avLst>
          </a:prstGeom>
          <a:solidFill>
            <a:srgbClr val="F7FAFC"/>
          </a:solidFill>
          <a:ln w="14288">
            <a:solidFill>
              <a:srgbClr val="E2E8F0"/>
            </a:solidFill>
          </a:ln>
        </p:spPr>
      </p:sp>
      <p:sp>
        <p:nvSpPr>
          <p:cNvPr id="61" name="TextBox 61"/>
          <p:cNvSpPr txBox="1"/>
          <p:nvPr/>
        </p:nvSpPr>
        <p:spPr>
          <a:xfrm>
            <a:off x="687070" y="4300220"/>
            <a:ext cx="135763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与传统方案对比</a:t>
            </a:r>
            <a:endParaRPr lang="zh-CN" sz="1350" b="1" dirty="0">
              <a:solidFill>
                <a:srgbClr val="1A365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2" name="Rectangle 62"/>
          <p:cNvSpPr/>
          <p:nvPr/>
        </p:nvSpPr>
        <p:spPr>
          <a:xfrm>
            <a:off x="704215" y="4589145"/>
            <a:ext cx="2095500" cy="285750"/>
          </a:xfrm>
          <a:prstGeom prst="roundRect">
            <a:avLst>
              <a:gd name="adj" fmla="val 13333"/>
            </a:avLst>
          </a:prstGeom>
          <a:solidFill>
            <a:srgbClr val="1A365D"/>
          </a:solidFill>
          <a:ln>
            <a:noFill/>
          </a:ln>
        </p:spPr>
      </p:sp>
      <p:sp>
        <p:nvSpPr>
          <p:cNvPr id="63" name="TextBox 63"/>
          <p:cNvSpPr txBox="1"/>
          <p:nvPr/>
        </p:nvSpPr>
        <p:spPr>
          <a:xfrm>
            <a:off x="1614805" y="4682490"/>
            <a:ext cx="27495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维度</a:t>
            </a:r>
            <a:endParaRPr lang="zh-CN" sz="9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4" name="Rectangle 64"/>
          <p:cNvSpPr/>
          <p:nvPr/>
        </p:nvSpPr>
        <p:spPr>
          <a:xfrm>
            <a:off x="2894965" y="4589145"/>
            <a:ext cx="2667000" cy="285750"/>
          </a:xfrm>
          <a:prstGeom prst="roundRect">
            <a:avLst>
              <a:gd name="adj" fmla="val 13333"/>
            </a:avLst>
          </a:prstGeom>
          <a:solidFill>
            <a:srgbClr val="718096"/>
          </a:solidFill>
          <a:ln>
            <a:noFill/>
          </a:ln>
        </p:spPr>
      </p:sp>
      <p:sp>
        <p:nvSpPr>
          <p:cNvPr id="65" name="TextBox 65"/>
          <p:cNvSpPr txBox="1"/>
          <p:nvPr/>
        </p:nvSpPr>
        <p:spPr>
          <a:xfrm>
            <a:off x="3839210" y="4682490"/>
            <a:ext cx="77914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传统在线教育</a:t>
            </a:r>
            <a:endParaRPr lang="zh-CN" sz="9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6" name="Rectangle 66"/>
          <p:cNvSpPr/>
          <p:nvPr/>
        </p:nvSpPr>
        <p:spPr>
          <a:xfrm>
            <a:off x="5657215" y="4589145"/>
            <a:ext cx="2667000" cy="285750"/>
          </a:xfrm>
          <a:prstGeom prst="roundRect">
            <a:avLst>
              <a:gd name="adj" fmla="val 13333"/>
            </a:avLst>
          </a:prstGeom>
          <a:solidFill>
            <a:srgbClr val="718096"/>
          </a:solidFill>
          <a:ln>
            <a:noFill/>
          </a:ln>
        </p:spPr>
      </p:sp>
      <p:sp>
        <p:nvSpPr>
          <p:cNvPr id="67" name="TextBox 67"/>
          <p:cNvSpPr txBox="1"/>
          <p:nvPr/>
        </p:nvSpPr>
        <p:spPr>
          <a:xfrm>
            <a:off x="6610985" y="4682490"/>
            <a:ext cx="7600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通用LLM对话</a:t>
            </a:r>
            <a:endParaRPr lang="zh-CN" sz="9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8" name="Rectangle 68"/>
          <p:cNvSpPr/>
          <p:nvPr/>
        </p:nvSpPr>
        <p:spPr>
          <a:xfrm>
            <a:off x="8419465" y="4589145"/>
            <a:ext cx="3048000" cy="285750"/>
          </a:xfrm>
          <a:prstGeom prst="roundRect">
            <a:avLst>
              <a:gd name="adj" fmla="val 13333"/>
            </a:avLst>
          </a:prstGeom>
          <a:solidFill>
            <a:srgbClr val="38A169"/>
          </a:solidFill>
          <a:ln>
            <a:noFill/>
          </a:ln>
        </p:spPr>
      </p:sp>
      <p:sp>
        <p:nvSpPr>
          <p:cNvPr id="69" name="TextBox 69"/>
          <p:cNvSpPr txBox="1"/>
          <p:nvPr/>
        </p:nvSpPr>
        <p:spPr>
          <a:xfrm>
            <a:off x="9742805" y="4682490"/>
            <a:ext cx="4006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本系统</a:t>
            </a:r>
            <a:endParaRPr lang="zh-CN" sz="9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0" name="TextBox 70"/>
          <p:cNvSpPr txBox="1"/>
          <p:nvPr/>
        </p:nvSpPr>
        <p:spPr>
          <a:xfrm>
            <a:off x="1488440" y="5015865"/>
            <a:ext cx="527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内容生成</a:t>
            </a:r>
            <a:endParaRPr lang="zh-CN" sz="900" b="1" dirty="0">
              <a:solidFill>
                <a:srgbClr val="2D374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1" name="TextBox 71"/>
          <p:cNvSpPr txBox="1"/>
          <p:nvPr/>
        </p:nvSpPr>
        <p:spPr>
          <a:xfrm>
            <a:off x="3736975" y="5015865"/>
            <a:ext cx="982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人工编写，更新慢</a:t>
            </a:r>
            <a:endParaRPr lang="zh-CN" sz="9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2" name="TextBox 72"/>
          <p:cNvSpPr txBox="1"/>
          <p:nvPr/>
        </p:nvSpPr>
        <p:spPr>
          <a:xfrm>
            <a:off x="6438900" y="5015865"/>
            <a:ext cx="11029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单次对话，无结构化</a:t>
            </a:r>
            <a:endParaRPr lang="zh-CN" sz="9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3" name="TextBox 73"/>
          <p:cNvSpPr txBox="1"/>
          <p:nvPr/>
        </p:nvSpPr>
        <p:spPr>
          <a:xfrm>
            <a:off x="9166860" y="5015865"/>
            <a:ext cx="15532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8A1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多Agent流水线，结构化输出</a:t>
            </a:r>
            <a:endParaRPr lang="zh-CN" sz="900" dirty="0">
              <a:solidFill>
                <a:srgbClr val="38A16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4" name="TextBox 74"/>
          <p:cNvSpPr txBox="1"/>
          <p:nvPr/>
        </p:nvSpPr>
        <p:spPr>
          <a:xfrm>
            <a:off x="1551305" y="5253990"/>
            <a:ext cx="40068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个性化</a:t>
            </a:r>
            <a:endParaRPr lang="zh-CN" sz="900" b="1" dirty="0">
              <a:solidFill>
                <a:srgbClr val="2D374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5" name="TextBox 75"/>
          <p:cNvSpPr txBox="1"/>
          <p:nvPr/>
        </p:nvSpPr>
        <p:spPr>
          <a:xfrm>
            <a:off x="3977005" y="525399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固定课程</a:t>
            </a:r>
            <a:endParaRPr lang="zh-CN" sz="9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6" name="TextBox 76"/>
          <p:cNvSpPr txBox="1"/>
          <p:nvPr/>
        </p:nvSpPr>
        <p:spPr>
          <a:xfrm>
            <a:off x="6678930" y="5253990"/>
            <a:ext cx="62293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仅当轮对话</a:t>
            </a:r>
            <a:endParaRPr lang="zh-CN" sz="9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7" name="TextBox 77"/>
          <p:cNvSpPr txBox="1"/>
          <p:nvPr/>
        </p:nvSpPr>
        <p:spPr>
          <a:xfrm>
            <a:off x="9382760" y="5253990"/>
            <a:ext cx="112077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8A1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三层记忆 + 能力画像</a:t>
            </a:r>
            <a:endParaRPr lang="zh-CN" sz="900" dirty="0">
              <a:solidFill>
                <a:srgbClr val="38A16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8" name="TextBox 78"/>
          <p:cNvSpPr txBox="1"/>
          <p:nvPr/>
        </p:nvSpPr>
        <p:spPr>
          <a:xfrm>
            <a:off x="1488440" y="5492115"/>
            <a:ext cx="5270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学练结合</a:t>
            </a:r>
            <a:endParaRPr lang="zh-CN" sz="900" b="1" dirty="0">
              <a:solidFill>
                <a:srgbClr val="2D374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79" name="TextBox 79"/>
          <p:cNvSpPr txBox="1"/>
          <p:nvPr/>
        </p:nvSpPr>
        <p:spPr>
          <a:xfrm>
            <a:off x="3797300" y="5492115"/>
            <a:ext cx="86296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学习与练习分离</a:t>
            </a:r>
            <a:endParaRPr lang="zh-CN" sz="9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0" name="TextBox 80"/>
          <p:cNvSpPr txBox="1"/>
          <p:nvPr/>
        </p:nvSpPr>
        <p:spPr>
          <a:xfrm>
            <a:off x="6619240" y="5492115"/>
            <a:ext cx="74295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无法追踪进度</a:t>
            </a:r>
            <a:endParaRPr lang="zh-CN" sz="9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1" name="TextBox 81"/>
          <p:cNvSpPr txBox="1"/>
          <p:nvPr/>
        </p:nvSpPr>
        <p:spPr>
          <a:xfrm>
            <a:off x="9547860" y="5492115"/>
            <a:ext cx="7912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8A1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学→练→测 闭环</a:t>
            </a:r>
            <a:endParaRPr lang="zh-CN" sz="900" dirty="0">
              <a:solidFill>
                <a:srgbClr val="38A16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2" name="TextBox 82"/>
          <p:cNvSpPr txBox="1"/>
          <p:nvPr/>
        </p:nvSpPr>
        <p:spPr>
          <a:xfrm>
            <a:off x="1425575" y="5730240"/>
            <a:ext cx="6527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输出鲁棒性</a:t>
            </a:r>
            <a:endParaRPr lang="zh-CN" sz="900" b="1" dirty="0">
              <a:solidFill>
                <a:srgbClr val="2D3748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3" name="TextBox 83"/>
          <p:cNvSpPr txBox="1"/>
          <p:nvPr/>
        </p:nvSpPr>
        <p:spPr>
          <a:xfrm>
            <a:off x="4117975" y="5730240"/>
            <a:ext cx="22098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N/A</a:t>
            </a:r>
            <a:endParaRPr lang="zh-CN" sz="9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4" name="TextBox 84"/>
          <p:cNvSpPr txBox="1"/>
          <p:nvPr/>
        </p:nvSpPr>
        <p:spPr>
          <a:xfrm>
            <a:off x="6535420" y="5730240"/>
            <a:ext cx="91122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JSON常解析失败</a:t>
            </a:r>
            <a:endParaRPr lang="zh-CN" sz="9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5" name="TextBox 85"/>
          <p:cNvSpPr txBox="1"/>
          <p:nvPr/>
        </p:nvSpPr>
        <p:spPr>
          <a:xfrm>
            <a:off x="9352915" y="5730240"/>
            <a:ext cx="11811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38A1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7层级联解析 · 98.5%</a:t>
            </a:r>
            <a:endParaRPr lang="zh-CN" sz="900" dirty="0">
              <a:solidFill>
                <a:srgbClr val="38A169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87" name="Image 8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4122" y="6000750"/>
            <a:ext cx="1688757" cy="762000"/>
          </a:xfrm>
          <a:prstGeom prst="rect">
            <a:avLst/>
          </a:prstGeom>
        </p:spPr>
      </p:pic>
      <p:sp>
        <p:nvSpPr>
          <p:cNvPr id="88" name="TextBox 88"/>
          <p:cNvSpPr txBox="1"/>
          <p:nvPr/>
        </p:nvSpPr>
        <p:spPr>
          <a:xfrm>
            <a:off x="5916549" y="6379845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7 / 12</a:t>
            </a:r>
            <a:endParaRPr lang="zh-CN" sz="900" dirty="0">
              <a:solidFill>
                <a:srgbClr val="A0AE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2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47" y="206375"/>
            <a:ext cx="1259417" cy="476250"/>
          </a:xfrm>
          <a:prstGeom prst="rect">
            <a:avLst/>
          </a:prstGeom>
        </p:spPr>
      </p:pic>
      <p:pic>
        <p:nvPicPr>
          <p:cNvPr id="89" name="图片 8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472" y="206816"/>
            <a:ext cx="3217472" cy="45950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1020" y="807720"/>
            <a:ext cx="140512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365D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rPr>
              <a:t>性能测试</a:t>
            </a:r>
            <a:endParaRPr lang="zh-CN" sz="2400" b="1" dirty="0">
              <a:solidFill>
                <a:srgbClr val="1A365D"/>
              </a:solidFill>
              <a:latin typeface="Georgia" panose="02040502050405020303"/>
              <a:ea typeface="微软雅黑" panose="020B0503020204020204" charset="-122"/>
              <a:cs typeface="Georgia" panose="020405020504050203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8165" y="1191578"/>
            <a:ext cx="355727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全流程耗时 · JSON解析率 · 记忆连贯性 · 并发稳定性</a:t>
            </a:r>
            <a:endParaRPr lang="zh-CN" sz="12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32" name="Group 32"/>
          <p:cNvGrpSpPr/>
          <p:nvPr/>
        </p:nvGrpSpPr>
        <p:grpSpPr>
          <a:xfrm>
            <a:off x="571500" y="1571625"/>
            <a:ext cx="10858500" cy="1238250"/>
            <a:chOff x="571500" y="1571625"/>
            <a:chExt cx="10858500" cy="1238250"/>
          </a:xfrm>
        </p:grpSpPr>
        <p:grpSp>
          <p:nvGrpSpPr>
            <p:cNvPr id="13" name="Group 13"/>
            <p:cNvGrpSpPr/>
            <p:nvPr/>
          </p:nvGrpSpPr>
          <p:grpSpPr>
            <a:xfrm>
              <a:off x="571500" y="1571625"/>
              <a:ext cx="2571750" cy="1238250"/>
              <a:chOff x="571500" y="1571625"/>
              <a:chExt cx="2571750" cy="123825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571500" y="1571625"/>
                <a:ext cx="2571750" cy="1238250"/>
              </a:xfrm>
              <a:prstGeom prst="roundRect">
                <a:avLst>
                  <a:gd name="adj" fmla="val 9231"/>
                </a:avLst>
              </a:prstGeom>
              <a:solidFill>
                <a:srgbClr val="2B6CB0">
                  <a:alpha val="8000"/>
                </a:srgbClr>
              </a:solidFill>
              <a:ln w="14288">
                <a:solidFill>
                  <a:srgbClr val="2B6CB0"/>
                </a:solidFill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479550" y="1660208"/>
                <a:ext cx="755650" cy="484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2B6CB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155s</a:t>
                </a:r>
                <a:endParaRPr lang="zh-CN" sz="3150" b="1" dirty="0">
                  <a:solidFill>
                    <a:srgbClr val="2B6CB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422082" y="2108835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D37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全流程耗时</a:t>
                </a:r>
                <a:endParaRPr lang="zh-CN" sz="1200" b="1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311926" y="2371249"/>
                <a:ext cx="109089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3-5分钟完成5阶段</a:t>
                </a:r>
                <a:endParaRPr lang="zh-CN" sz="97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050846" y="2569845"/>
                <a:ext cx="161305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A0AEC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无简历 ~155s · 有简历 ~167s</a:t>
                </a:r>
                <a:endParaRPr lang="zh-CN" sz="900" dirty="0">
                  <a:solidFill>
                    <a:srgbClr val="A0AE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3333750" y="1571625"/>
              <a:ext cx="2571750" cy="1238250"/>
              <a:chOff x="3333750" y="1571625"/>
              <a:chExt cx="2571750" cy="12382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3333750" y="1571625"/>
                <a:ext cx="2571750" cy="1238250"/>
              </a:xfrm>
              <a:prstGeom prst="roundRect">
                <a:avLst>
                  <a:gd name="adj" fmla="val 9231"/>
                </a:avLst>
              </a:prstGeom>
              <a:solidFill>
                <a:srgbClr val="D4AF37">
                  <a:alpha val="8000"/>
                </a:srgbClr>
              </a:solidFill>
              <a:ln w="14288">
                <a:solidFill>
                  <a:srgbClr val="D4AF37"/>
                </a:solidFill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4069398" y="1660208"/>
                <a:ext cx="1100455" cy="484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D4AF37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98.5%</a:t>
                </a:r>
                <a:endParaRPr lang="zh-CN" sz="3150" b="1" dirty="0">
                  <a:solidFill>
                    <a:srgbClr val="D4AF3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3982707" y="2108835"/>
                <a:ext cx="127383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D37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JSON解析成功率</a:t>
                </a:r>
                <a:endParaRPr lang="zh-CN" sz="1200" b="1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4246447" y="2371249"/>
                <a:ext cx="74635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7层级联解析</a:t>
                </a:r>
                <a:endParaRPr lang="zh-CN" sz="97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3804094" y="2569845"/>
                <a:ext cx="163106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A0AEC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单策略仅62% · 降级兜底100%</a:t>
                </a:r>
                <a:endParaRPr lang="zh-CN" sz="900" dirty="0">
                  <a:solidFill>
                    <a:srgbClr val="A0AE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6096000" y="1571625"/>
              <a:ext cx="2571750" cy="1238250"/>
              <a:chOff x="6096000" y="1571625"/>
              <a:chExt cx="2571750" cy="123825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6096000" y="1571625"/>
                <a:ext cx="2571750" cy="1238250"/>
              </a:xfrm>
              <a:prstGeom prst="roundRect">
                <a:avLst>
                  <a:gd name="adj" fmla="val 9231"/>
                </a:avLst>
              </a:prstGeom>
              <a:solidFill>
                <a:srgbClr val="38A169">
                  <a:alpha val="8000"/>
                </a:srgbClr>
              </a:solidFill>
              <a:ln w="14288">
                <a:solidFill>
                  <a:srgbClr val="38A169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6976110" y="1660208"/>
                <a:ext cx="811530" cy="484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38A169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4.0/5</a:t>
                </a:r>
                <a:endParaRPr lang="zh-CN" sz="3150" b="1" dirty="0">
                  <a:solidFill>
                    <a:srgbClr val="38A169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946582" y="2108835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D37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记忆连贯性</a:t>
                </a:r>
                <a:endParaRPr lang="zh-CN" sz="1200" b="1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979444" y="2371249"/>
                <a:ext cx="80486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三层记忆方案</a:t>
                </a:r>
                <a:endParaRPr lang="zh-CN" sz="97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779371" y="2569845"/>
                <a:ext cx="120500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A0AEC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较无记忆方案提升43%</a:t>
                </a:r>
                <a:endParaRPr lang="zh-CN" sz="900" dirty="0">
                  <a:solidFill>
                    <a:srgbClr val="A0AE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8858250" y="1571625"/>
              <a:ext cx="2571750" cy="1238250"/>
              <a:chOff x="8858250" y="1571625"/>
              <a:chExt cx="2571750" cy="1238250"/>
            </a:xfrm>
          </p:grpSpPr>
          <p:sp>
            <p:nvSpPr>
              <p:cNvPr id="26" name="Rectangle 26"/>
              <p:cNvSpPr/>
              <p:nvPr/>
            </p:nvSpPr>
            <p:spPr>
              <a:xfrm>
                <a:off x="8858250" y="1571625"/>
                <a:ext cx="2571750" cy="1238250"/>
              </a:xfrm>
              <a:prstGeom prst="roundRect">
                <a:avLst>
                  <a:gd name="adj" fmla="val 9231"/>
                </a:avLst>
              </a:prstGeom>
              <a:solidFill>
                <a:srgbClr val="FF9800">
                  <a:alpha val="8000"/>
                </a:srgbClr>
              </a:solidFill>
              <a:ln w="14288">
                <a:solidFill>
                  <a:srgbClr val="FF9800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593898" y="1660208"/>
                <a:ext cx="1100455" cy="4845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3150" b="1" dirty="0">
                    <a:solidFill>
                      <a:srgbClr val="FF9800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10,300</a:t>
                </a:r>
                <a:endParaRPr lang="zh-CN" sz="3150" b="1" dirty="0">
                  <a:solidFill>
                    <a:srgbClr val="FF980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645825" y="2108835"/>
                <a:ext cx="99660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2D37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总Token消耗</a:t>
                </a:r>
                <a:endParaRPr lang="zh-CN" sz="1200" b="1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9936718" y="2371249"/>
                <a:ext cx="41481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全流程</a:t>
                </a:r>
                <a:endParaRPr lang="zh-CN" sz="97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9892665" y="2569845"/>
                <a:ext cx="5029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A0AEC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成本可控</a:t>
                </a:r>
                <a:endParaRPr lang="zh-CN" sz="900" dirty="0">
                  <a:solidFill>
                    <a:srgbClr val="A0AEC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33" name="Rectangle 33"/>
          <p:cNvSpPr/>
          <p:nvPr/>
        </p:nvSpPr>
        <p:spPr>
          <a:xfrm>
            <a:off x="571500" y="2978150"/>
            <a:ext cx="6667500" cy="2952750"/>
          </a:xfrm>
          <a:prstGeom prst="roundRect">
            <a:avLst>
              <a:gd name="adj" fmla="val 3871"/>
            </a:avLst>
          </a:prstGeom>
          <a:solidFill>
            <a:srgbClr val="F7FAFC"/>
          </a:solidFill>
          <a:ln w="14288">
            <a:solidFill>
              <a:srgbClr val="E2E8F0"/>
            </a:solidFill>
          </a:ln>
        </p:spPr>
      </p:sp>
      <p:sp>
        <p:nvSpPr>
          <p:cNvPr id="34" name="TextBox 34"/>
          <p:cNvSpPr txBox="1"/>
          <p:nvPr/>
        </p:nvSpPr>
        <p:spPr>
          <a:xfrm>
            <a:off x="829945" y="3358515"/>
            <a:ext cx="168846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各阶段耗时与Token</a:t>
            </a:r>
            <a:endParaRPr lang="zh-CN" sz="1350" b="1" dirty="0">
              <a:solidFill>
                <a:srgbClr val="1A365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53" name="Group 53"/>
          <p:cNvGrpSpPr/>
          <p:nvPr/>
        </p:nvGrpSpPr>
        <p:grpSpPr>
          <a:xfrm rot="0">
            <a:off x="835660" y="3695065"/>
            <a:ext cx="3775710" cy="1895475"/>
            <a:chOff x="845820" y="3571875"/>
            <a:chExt cx="3775733" cy="1895475"/>
          </a:xfrm>
        </p:grpSpPr>
        <p:sp>
          <p:nvSpPr>
            <p:cNvPr id="35" name="TextBox 35"/>
            <p:cNvSpPr txBox="1"/>
            <p:nvPr/>
          </p:nvSpPr>
          <p:spPr>
            <a:xfrm>
              <a:off x="845820" y="361759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岗位分析</a:t>
              </a:r>
              <a:endParaRPr lang="zh-CN" sz="900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1809750" y="3571875"/>
              <a:ext cx="714375" cy="190500"/>
            </a:xfrm>
            <a:prstGeom prst="roundRect">
              <a:avLst>
                <a:gd name="adj" fmla="val 20000"/>
              </a:avLst>
            </a:prstGeom>
            <a:solidFill>
              <a:srgbClr val="2B6CB0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2561272" y="3625691"/>
              <a:ext cx="5105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15s · 800</a:t>
              </a:r>
              <a:endParaRPr lang="zh-CN" sz="825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5820" y="3950970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简历评估</a:t>
              </a:r>
              <a:endParaRPr lang="zh-CN" sz="900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809750" y="3905250"/>
              <a:ext cx="571500" cy="190500"/>
            </a:xfrm>
            <a:prstGeom prst="roundRect">
              <a:avLst>
                <a:gd name="adj" fmla="val 20000"/>
              </a:avLst>
            </a:prstGeom>
            <a:solidFill>
              <a:srgbClr val="D4AF37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418398" y="3959066"/>
              <a:ext cx="51051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12s · 600</a:t>
              </a:r>
              <a:endParaRPr lang="zh-CN" sz="825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5820" y="428434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内容生成</a:t>
              </a:r>
              <a:endParaRPr lang="zh-CN" sz="900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809750" y="4238625"/>
              <a:ext cx="2143125" cy="190500"/>
            </a:xfrm>
            <a:prstGeom prst="roundRect">
              <a:avLst>
                <a:gd name="adj" fmla="val 20000"/>
              </a:avLst>
            </a:prstGeom>
            <a:solidFill>
              <a:srgbClr val="38A16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990022" y="4292441"/>
              <a:ext cx="6315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45s · 3,000</a:t>
              </a:r>
              <a:endParaRPr lang="zh-CN" sz="825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5820" y="4617720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训练任务</a:t>
              </a:r>
              <a:endParaRPr lang="zh-CN" sz="900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809750" y="4572000"/>
              <a:ext cx="1666875" cy="190500"/>
            </a:xfrm>
            <a:prstGeom prst="roundRect">
              <a:avLst>
                <a:gd name="adj" fmla="val 20000"/>
              </a:avLst>
            </a:prstGeom>
            <a:solidFill>
              <a:srgbClr val="E53E3E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3513772" y="4625816"/>
              <a:ext cx="6315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35s · 2,500</a:t>
              </a:r>
              <a:endParaRPr lang="zh-CN" sz="825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45820" y="495109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测试考核</a:t>
              </a:r>
              <a:endParaRPr lang="zh-CN" sz="900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809750" y="4905375"/>
              <a:ext cx="1905000" cy="190500"/>
            </a:xfrm>
            <a:prstGeom prst="roundRect">
              <a:avLst>
                <a:gd name="adj" fmla="val 20000"/>
              </a:avLst>
            </a:prstGeom>
            <a:solidFill>
              <a:srgbClr val="9C27B0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751898" y="4959191"/>
              <a:ext cx="6315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40s · 2,800</a:t>
              </a:r>
              <a:endParaRPr lang="zh-CN" sz="825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5820" y="5284470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能力评估</a:t>
              </a:r>
              <a:endParaRPr lang="zh-CN" sz="900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809750" y="5238750"/>
              <a:ext cx="952500" cy="190500"/>
            </a:xfrm>
            <a:prstGeom prst="roundRect">
              <a:avLst>
                <a:gd name="adj" fmla="val 20000"/>
              </a:avLst>
            </a:prstGeom>
            <a:solidFill>
              <a:srgbClr val="FF980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799398" y="5292566"/>
              <a:ext cx="63153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20s · 1,200</a:t>
              </a:r>
              <a:endParaRPr lang="zh-CN" sz="825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5" name="Group 75"/>
          <p:cNvGrpSpPr/>
          <p:nvPr/>
        </p:nvGrpSpPr>
        <p:grpSpPr>
          <a:xfrm>
            <a:off x="7620000" y="2978150"/>
            <a:ext cx="4000500" cy="2952750"/>
            <a:chOff x="7620000" y="3048000"/>
            <a:chExt cx="4000500" cy="2952750"/>
          </a:xfrm>
        </p:grpSpPr>
        <p:sp>
          <p:nvSpPr>
            <p:cNvPr id="55" name="Rectangle 55"/>
            <p:cNvSpPr/>
            <p:nvPr/>
          </p:nvSpPr>
          <p:spPr>
            <a:xfrm>
              <a:off x="7620000" y="3048000"/>
              <a:ext cx="4000500" cy="2952750"/>
            </a:xfrm>
            <a:prstGeom prst="roundRect">
              <a:avLst>
                <a:gd name="adj" fmla="val 3871"/>
              </a:avLst>
            </a:prstGeom>
            <a:solidFill>
              <a:srgbClr val="F7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888605" y="3235642"/>
              <a:ext cx="18111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JSON解析各级命中率</a:t>
              </a:r>
              <a:endParaRPr lang="zh-CN" sz="1350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71" name="Group 71"/>
            <p:cNvGrpSpPr/>
            <p:nvPr/>
          </p:nvGrpSpPr>
          <p:grpSpPr>
            <a:xfrm>
              <a:off x="7894320" y="3571875"/>
              <a:ext cx="3345180" cy="1762125"/>
              <a:chOff x="7894320" y="3571875"/>
              <a:chExt cx="3345180" cy="1762125"/>
            </a:xfrm>
          </p:grpSpPr>
          <p:sp>
            <p:nvSpPr>
              <p:cNvPr id="57" name="TextBox 57"/>
              <p:cNvSpPr txBox="1"/>
              <p:nvPr/>
            </p:nvSpPr>
            <p:spPr>
              <a:xfrm>
                <a:off x="7894320" y="3617595"/>
                <a:ext cx="67094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D37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L1 直接解析</a:t>
                </a:r>
                <a:endParaRPr lang="zh-CN" sz="9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9048750" y="3571875"/>
                <a:ext cx="1771650" cy="190500"/>
              </a:xfrm>
              <a:prstGeom prst="roundRect">
                <a:avLst>
                  <a:gd name="adj" fmla="val 20000"/>
                </a:avLst>
              </a:prstGeom>
              <a:solidFill>
                <a:srgbClr val="2B6CB0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10848022" y="3625691"/>
                <a:ext cx="22448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62%</a:t>
                </a:r>
                <a:endParaRPr lang="zh-CN" sz="82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894320" y="3950970"/>
                <a:ext cx="43091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D37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L2 清理</a:t>
                </a:r>
                <a:endParaRPr lang="zh-CN" sz="9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1" name="Rectangle 61"/>
              <p:cNvSpPr/>
              <p:nvPr/>
            </p:nvSpPr>
            <p:spPr>
              <a:xfrm>
                <a:off x="9048750" y="3905250"/>
                <a:ext cx="428625" cy="190500"/>
              </a:xfrm>
              <a:prstGeom prst="roundRect">
                <a:avLst>
                  <a:gd name="adj" fmla="val 20000"/>
                </a:avLst>
              </a:prstGeom>
              <a:solidFill>
                <a:srgbClr val="D4AF37"/>
              </a:solidFill>
              <a:ln>
                <a:noFill/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9514522" y="3959066"/>
                <a:ext cx="22448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15%</a:t>
                </a:r>
                <a:endParaRPr lang="zh-CN" sz="82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3" name="TextBox 63"/>
              <p:cNvSpPr txBox="1"/>
              <p:nvPr/>
            </p:nvSpPr>
            <p:spPr>
              <a:xfrm>
                <a:off x="7894320" y="4284345"/>
                <a:ext cx="43091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D37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L3 修复</a:t>
                </a:r>
                <a:endParaRPr lang="zh-CN" sz="9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4" name="Rectangle 64"/>
              <p:cNvSpPr/>
              <p:nvPr/>
            </p:nvSpPr>
            <p:spPr>
              <a:xfrm>
                <a:off x="9048750" y="4238625"/>
                <a:ext cx="228600" cy="190500"/>
              </a:xfrm>
              <a:prstGeom prst="roundRect">
                <a:avLst>
                  <a:gd name="adj" fmla="val 20000"/>
                </a:avLst>
              </a:prstGeom>
              <a:solidFill>
                <a:srgbClr val="38A169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9324022" y="4292441"/>
                <a:ext cx="163973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8%</a:t>
                </a:r>
                <a:endParaRPr lang="zh-CN" sz="82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7894320" y="4617720"/>
                <a:ext cx="352901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D37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L4-L6</a:t>
                </a:r>
                <a:endParaRPr lang="zh-CN" sz="9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7" name="Rectangle 67"/>
              <p:cNvSpPr/>
              <p:nvPr/>
            </p:nvSpPr>
            <p:spPr>
              <a:xfrm>
                <a:off x="9048750" y="4572000"/>
                <a:ext cx="371475" cy="190500"/>
              </a:xfrm>
              <a:prstGeom prst="roundRect">
                <a:avLst>
                  <a:gd name="adj" fmla="val 20000"/>
                </a:avLst>
              </a:prstGeom>
              <a:solidFill>
                <a:srgbClr val="E53E3E"/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9466898" y="4625816"/>
                <a:ext cx="22448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13%</a:t>
                </a:r>
                <a:endParaRPr lang="zh-CN" sz="82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9" name="Rectangle 69"/>
              <p:cNvSpPr/>
              <p:nvPr/>
            </p:nvSpPr>
            <p:spPr>
              <a:xfrm>
                <a:off x="7905750" y="4953000"/>
                <a:ext cx="333375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1A365D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8326631" y="5061585"/>
                <a:ext cx="249198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D4AF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总计 98.5% + 降级 1.5% = 100%</a:t>
                </a:r>
                <a:endParaRPr lang="zh-CN" sz="1200" b="1" dirty="0">
                  <a:solidFill>
                    <a:srgbClr val="D4AF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72" name="TextBox 72"/>
            <p:cNvSpPr txBox="1"/>
            <p:nvPr/>
          </p:nvSpPr>
          <p:spPr>
            <a:xfrm>
              <a:off x="7892415" y="51254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并发测试</a:t>
              </a:r>
              <a:endParaRPr lang="zh-CN" sz="1050" b="1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893368" y="5371624"/>
              <a:ext cx="209852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3并发用户 · 0数据混淆 · 0系统异常</a:t>
              </a:r>
              <a:endParaRPr lang="zh-CN" sz="975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893368" y="5590699"/>
              <a:ext cx="176698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SQLite WAL模式支持并发读取</a:t>
              </a:r>
              <a:endParaRPr lang="zh-CN" sz="975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pic>
        <p:nvPicPr>
          <p:cNvPr id="76" name="Image 7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4122" y="6000750"/>
            <a:ext cx="1688757" cy="762000"/>
          </a:xfrm>
          <a:prstGeom prst="rect">
            <a:avLst/>
          </a:prstGeom>
        </p:spPr>
      </p:pic>
      <p:sp>
        <p:nvSpPr>
          <p:cNvPr id="77" name="TextBox 77"/>
          <p:cNvSpPr txBox="1"/>
          <p:nvPr/>
        </p:nvSpPr>
        <p:spPr>
          <a:xfrm>
            <a:off x="5916549" y="6379845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8 / 12</a:t>
            </a:r>
            <a:endParaRPr lang="zh-CN" sz="900" dirty="0">
              <a:solidFill>
                <a:srgbClr val="A0AE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2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47" y="206375"/>
            <a:ext cx="1259417" cy="476250"/>
          </a:xfrm>
          <a:prstGeom prst="rect">
            <a:avLst/>
          </a:prstGeom>
        </p:spPr>
      </p:pic>
      <p:pic>
        <p:nvPicPr>
          <p:cNvPr id="78" name="图片 7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472" y="206816"/>
            <a:ext cx="3217472" cy="45950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1020" y="807720"/>
            <a:ext cx="2077212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365D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rPr>
              <a:t>实测案例验证</a:t>
            </a:r>
            <a:endParaRPr lang="zh-CN" sz="2400" b="1" dirty="0">
              <a:solidFill>
                <a:srgbClr val="1A365D"/>
              </a:solidFill>
              <a:latin typeface="Georgia" panose="02040502050405020303"/>
              <a:ea typeface="微软雅黑" panose="020B0503020204020204" charset="-122"/>
              <a:cs typeface="Georgia" panose="020405020504050203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8165" y="1191578"/>
            <a:ext cx="328485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3名不同背景学员 · Java后端开发工程师（中级）</a:t>
            </a:r>
            <a:endParaRPr lang="zh-CN" sz="12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571500" y="1571625"/>
            <a:ext cx="3429000" cy="3619500"/>
            <a:chOff x="571500" y="1571625"/>
            <a:chExt cx="3429000" cy="3619500"/>
          </a:xfrm>
        </p:grpSpPr>
        <p:sp>
          <p:nvSpPr>
            <p:cNvPr id="8" name="Rectangle 8"/>
            <p:cNvSpPr/>
            <p:nvPr/>
          </p:nvSpPr>
          <p:spPr>
            <a:xfrm>
              <a:off x="571500" y="1571625"/>
              <a:ext cx="3429000" cy="3619500"/>
            </a:xfrm>
            <a:prstGeom prst="roundRect">
              <a:avLst>
                <a:gd name="adj" fmla="val 3333"/>
              </a:avLst>
            </a:prstGeom>
            <a:solidFill>
              <a:srgbClr val="F7FAFC"/>
            </a:solidFill>
            <a:ln w="19050">
              <a:solidFill>
                <a:srgbClr val="2B6CB0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571500" y="1571625"/>
              <a:ext cx="3429000" cy="76200"/>
            </a:xfrm>
            <a:prstGeom prst="roundRect">
              <a:avLst>
                <a:gd name="adj" fmla="val 50000"/>
              </a:avLst>
            </a:prstGeom>
            <a:solidFill>
              <a:srgbClr val="2B6CB0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912812" y="1831975"/>
              <a:ext cx="155575" cy="222250"/>
              <a:chOff x="912812" y="1831975"/>
              <a:chExt cx="155575" cy="22225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935038" y="1831975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55562" y="0"/>
                    </a:moveTo>
                    <a:cubicBezTo>
                      <a:pt x="86249" y="0"/>
                      <a:pt x="111125" y="24876"/>
                      <a:pt x="111125" y="55562"/>
                    </a:cubicBezTo>
                    <a:cubicBezTo>
                      <a:pt x="111125" y="86249"/>
                      <a:pt x="86249" y="111125"/>
                      <a:pt x="55562" y="111125"/>
                    </a:cubicBezTo>
                    <a:cubicBezTo>
                      <a:pt x="24876" y="111125"/>
                      <a:pt x="0" y="86249"/>
                      <a:pt x="0" y="55562"/>
                    </a:cubicBezTo>
                    <a:lnTo>
                      <a:pt x="56" y="53151"/>
                    </a:lnTo>
                    <a:cubicBezTo>
                      <a:pt x="1347" y="23432"/>
                      <a:pt x="25815" y="2"/>
                      <a:pt x="55562" y="0"/>
                    </a:cubicBezTo>
                    <a:close/>
                  </a:path>
                </a:pathLst>
              </a:custGeom>
              <a:solidFill>
                <a:srgbClr val="2B6CB0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912812" y="1965325"/>
                <a:ext cx="1555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88900">
                    <a:moveTo>
                      <a:pt x="100013" y="0"/>
                    </a:moveTo>
                    <a:cubicBezTo>
                      <a:pt x="130699" y="0"/>
                      <a:pt x="155575" y="24876"/>
                      <a:pt x="155575" y="55562"/>
                    </a:cubicBezTo>
                    <a:lnTo>
                      <a:pt x="155575" y="66675"/>
                    </a:lnTo>
                    <a:cubicBezTo>
                      <a:pt x="155575" y="78950"/>
                      <a:pt x="145625" y="88900"/>
                      <a:pt x="133350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55562"/>
                    </a:lnTo>
                    <a:cubicBezTo>
                      <a:pt x="0" y="24876"/>
                      <a:pt x="24876" y="0"/>
                      <a:pt x="55563" y="0"/>
                    </a:cubicBezTo>
                    <a:lnTo>
                      <a:pt x="100013" y="0"/>
                    </a:lnTo>
                    <a:close/>
                  </a:path>
                </a:pathLst>
              </a:custGeom>
              <a:solidFill>
                <a:srgbClr val="2B6CB0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173480" y="1787842"/>
              <a:ext cx="19245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案例一：计算机本科生</a:t>
              </a:r>
              <a:endParaRPr lang="zh-CN" sz="1350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9195" y="2026920"/>
              <a:ext cx="148704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有Java基础，缺乏项目经验</a:t>
              </a:r>
              <a:endPara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57250" y="2286000"/>
              <a:ext cx="28575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844868" y="2323624"/>
              <a:ext cx="1662017" cy="762476"/>
              <a:chOff x="844868" y="2323624"/>
              <a:chExt cx="1662017" cy="762476"/>
            </a:xfrm>
          </p:grpSpPr>
          <p:sp>
            <p:nvSpPr>
              <p:cNvPr id="16" name="TextBox 16"/>
              <p:cNvSpPr txBox="1"/>
              <p:nvPr/>
            </p:nvSpPr>
            <p:spPr>
              <a:xfrm>
                <a:off x="844868" y="232362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生成内容</a:t>
                </a:r>
                <a:endParaRPr lang="zh-CN" sz="97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845820" y="2522220"/>
                <a:ext cx="13010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D37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18个技能点 · 4个分类</a:t>
                </a:r>
                <a:endParaRPr lang="zh-CN" sz="9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845820" y="2712720"/>
                <a:ext cx="16610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D37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12个学习模块 · 8个训练任务</a:t>
                </a:r>
                <a:endParaRPr lang="zh-CN" sz="9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845820" y="2903220"/>
                <a:ext cx="85696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D37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25道考核题目</a:t>
                </a:r>
                <a:endParaRPr lang="zh-CN" sz="9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21" name="Rectangle 21"/>
            <p:cNvSpPr/>
            <p:nvPr/>
          </p:nvSpPr>
          <p:spPr>
            <a:xfrm>
              <a:off x="857250" y="3238500"/>
              <a:ext cx="2857500" cy="571500"/>
            </a:xfrm>
            <a:prstGeom prst="roundRect">
              <a:avLst>
                <a:gd name="adj" fmla="val 13333"/>
              </a:avLst>
            </a:prstGeom>
            <a:solidFill>
              <a:srgbClr val="2B6CB0">
                <a:alpha val="8000"/>
              </a:srgbClr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940118" y="3371374"/>
              <a:ext cx="500137" cy="15004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altLang="en-US" sz="975" b="1" dirty="0">
                  <a:solidFill>
                    <a:srgbClr val="2B6CB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综合评分</a:t>
              </a:r>
              <a:endParaRPr lang="zh-CN" sz="975" b="1" dirty="0">
                <a:solidFill>
                  <a:srgbClr val="2B6CB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63759" y="3238500"/>
              <a:ext cx="4572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B6CB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71</a:t>
              </a:r>
              <a:r>
                <a:rPr lang="zh-CN" altLang="en-US" sz="1800" b="1" dirty="0">
                  <a:solidFill>
                    <a:srgbClr val="2B6CB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分</a:t>
              </a:r>
              <a:endParaRPr lang="zh-CN" sz="1800" b="1" dirty="0">
                <a:solidFill>
                  <a:srgbClr val="2B6CB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41070" y="3617595"/>
              <a:ext cx="220713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薄弱环节转变：Spring框架 → 高并发设计</a:t>
              </a:r>
              <a:endPara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381500" y="1571625"/>
            <a:ext cx="3429000" cy="3619500"/>
            <a:chOff x="4381500" y="1571625"/>
            <a:chExt cx="3429000" cy="3619500"/>
          </a:xfrm>
        </p:grpSpPr>
        <p:sp>
          <p:nvSpPr>
            <p:cNvPr id="27" name="Rectangle 27"/>
            <p:cNvSpPr/>
            <p:nvPr/>
          </p:nvSpPr>
          <p:spPr>
            <a:xfrm>
              <a:off x="4381500" y="1571625"/>
              <a:ext cx="3429000" cy="3619500"/>
            </a:xfrm>
            <a:prstGeom prst="roundRect">
              <a:avLst>
                <a:gd name="adj" fmla="val 3333"/>
              </a:avLst>
            </a:prstGeom>
            <a:solidFill>
              <a:srgbClr val="F7FAFC"/>
            </a:solidFill>
            <a:ln w="19050">
              <a:solidFill>
                <a:srgbClr val="D4AF37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381500" y="1571625"/>
              <a:ext cx="3429000" cy="76200"/>
            </a:xfrm>
            <a:prstGeom prst="roundRect">
              <a:avLst>
                <a:gd name="adj" fmla="val 50000"/>
              </a:avLst>
            </a:prstGeom>
            <a:solidFill>
              <a:srgbClr val="D4AF37"/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4722812" y="1831975"/>
              <a:ext cx="155575" cy="222250"/>
              <a:chOff x="4722812" y="1831975"/>
              <a:chExt cx="155575" cy="222250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4745038" y="1831975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55562" y="0"/>
                    </a:moveTo>
                    <a:cubicBezTo>
                      <a:pt x="86249" y="0"/>
                      <a:pt x="111125" y="24876"/>
                      <a:pt x="111125" y="55562"/>
                    </a:cubicBezTo>
                    <a:cubicBezTo>
                      <a:pt x="111125" y="86249"/>
                      <a:pt x="86249" y="111125"/>
                      <a:pt x="55562" y="111125"/>
                    </a:cubicBezTo>
                    <a:cubicBezTo>
                      <a:pt x="24876" y="111125"/>
                      <a:pt x="0" y="86249"/>
                      <a:pt x="0" y="55562"/>
                    </a:cubicBezTo>
                    <a:lnTo>
                      <a:pt x="56" y="53151"/>
                    </a:lnTo>
                    <a:cubicBezTo>
                      <a:pt x="1347" y="23432"/>
                      <a:pt x="25815" y="2"/>
                      <a:pt x="55562" y="0"/>
                    </a:cubicBezTo>
                    <a:close/>
                  </a:path>
                </a:pathLst>
              </a:custGeom>
              <a:solidFill>
                <a:srgbClr val="D4AF37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722812" y="1965325"/>
                <a:ext cx="1555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88900">
                    <a:moveTo>
                      <a:pt x="100012" y="0"/>
                    </a:moveTo>
                    <a:cubicBezTo>
                      <a:pt x="130699" y="0"/>
                      <a:pt x="155575" y="24876"/>
                      <a:pt x="155575" y="55562"/>
                    </a:cubicBezTo>
                    <a:lnTo>
                      <a:pt x="155575" y="66675"/>
                    </a:lnTo>
                    <a:cubicBezTo>
                      <a:pt x="155575" y="78950"/>
                      <a:pt x="145625" y="88900"/>
                      <a:pt x="133350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55562"/>
                    </a:lnTo>
                    <a:cubicBezTo>
                      <a:pt x="0" y="24876"/>
                      <a:pt x="24876" y="0"/>
                      <a:pt x="55563" y="0"/>
                    </a:cubicBezTo>
                    <a:lnTo>
                      <a:pt x="100012" y="0"/>
                    </a:lnTo>
                    <a:close/>
                  </a:path>
                </a:pathLst>
              </a:custGeom>
              <a:solidFill>
                <a:srgbClr val="D4AF37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4983480" y="1787842"/>
              <a:ext cx="19245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案例二：转行在职人员</a:t>
              </a:r>
              <a:endParaRPr lang="zh-CN" sz="1350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989195" y="2026920"/>
              <a:ext cx="155305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前端3年经验，转行Java后端</a:t>
              </a:r>
              <a:endPara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667250" y="2286000"/>
              <a:ext cx="28575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4654868" y="2323624"/>
              <a:ext cx="1638014" cy="762476"/>
              <a:chOff x="4654868" y="2323624"/>
              <a:chExt cx="1638014" cy="762476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4654868" y="2323624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智能适配</a:t>
                </a:r>
                <a:endParaRPr lang="zh-CN" sz="97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4655820" y="2522220"/>
                <a:ext cx="120500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D37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自动跳过已掌握技能</a:t>
                </a:r>
                <a:endParaRPr lang="zh-CN" sz="9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655820" y="2712720"/>
                <a:ext cx="163706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D37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重点放在Spring生态+数据库</a:t>
                </a:r>
                <a:endParaRPr lang="zh-CN" sz="9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655820" y="2903220"/>
                <a:ext cx="132502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D37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简历驱动的个性化路径</a:t>
                </a:r>
                <a:endParaRPr lang="zh-CN" sz="9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40" name="Rectangle 40"/>
            <p:cNvSpPr/>
            <p:nvPr/>
          </p:nvSpPr>
          <p:spPr>
            <a:xfrm>
              <a:off x="4667250" y="3238500"/>
              <a:ext cx="2857500" cy="571500"/>
            </a:xfrm>
            <a:prstGeom prst="roundRect">
              <a:avLst>
                <a:gd name="adj" fmla="val 13333"/>
              </a:avLst>
            </a:prstGeom>
            <a:solidFill>
              <a:srgbClr val="D4AF37">
                <a:alpha val="8000"/>
              </a:srgbClr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750118" y="337137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D4AF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综合评分</a:t>
              </a:r>
              <a:endParaRPr lang="zh-CN" sz="975" b="1" dirty="0">
                <a:solidFill>
                  <a:srgbClr val="D4AF37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63640" y="3282315"/>
              <a:ext cx="4572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D4AF3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68分</a:t>
              </a:r>
              <a:endParaRPr lang="zh-CN" sz="1800" b="1" dirty="0">
                <a:solidFill>
                  <a:srgbClr val="D4AF37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751070" y="3617595"/>
              <a:ext cx="206311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编程思维扎实，数据库和分布式待加强</a:t>
              </a:r>
              <a:endPara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8191500" y="1571625"/>
            <a:ext cx="3429000" cy="3619500"/>
            <a:chOff x="8191500" y="1571625"/>
            <a:chExt cx="3429000" cy="3619500"/>
          </a:xfrm>
        </p:grpSpPr>
        <p:sp>
          <p:nvSpPr>
            <p:cNvPr id="45" name="Rectangle 45"/>
            <p:cNvSpPr/>
            <p:nvPr/>
          </p:nvSpPr>
          <p:spPr>
            <a:xfrm>
              <a:off x="8191500" y="1571625"/>
              <a:ext cx="3429000" cy="3619500"/>
            </a:xfrm>
            <a:prstGeom prst="roundRect">
              <a:avLst>
                <a:gd name="adj" fmla="val 3333"/>
              </a:avLst>
            </a:prstGeom>
            <a:solidFill>
              <a:srgbClr val="F7FAFC"/>
            </a:solidFill>
            <a:ln w="19050">
              <a:solidFill>
                <a:srgbClr val="38A169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8191500" y="1571625"/>
              <a:ext cx="3429000" cy="76200"/>
            </a:xfrm>
            <a:prstGeom prst="roundRect">
              <a:avLst>
                <a:gd name="adj" fmla="val 50000"/>
              </a:avLst>
            </a:prstGeom>
            <a:solidFill>
              <a:srgbClr val="38A169"/>
            </a:solidFill>
            <a:ln>
              <a:noFill/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8532812" y="1831975"/>
              <a:ext cx="155575" cy="222250"/>
              <a:chOff x="8532812" y="1831975"/>
              <a:chExt cx="155575" cy="222250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8555038" y="1831975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55563" y="0"/>
                    </a:moveTo>
                    <a:cubicBezTo>
                      <a:pt x="86249" y="0"/>
                      <a:pt x="111125" y="24876"/>
                      <a:pt x="111125" y="55562"/>
                    </a:cubicBezTo>
                    <a:cubicBezTo>
                      <a:pt x="111125" y="86249"/>
                      <a:pt x="86249" y="111125"/>
                      <a:pt x="55563" y="111125"/>
                    </a:cubicBezTo>
                    <a:cubicBezTo>
                      <a:pt x="24876" y="111125"/>
                      <a:pt x="0" y="86249"/>
                      <a:pt x="0" y="55562"/>
                    </a:cubicBezTo>
                    <a:lnTo>
                      <a:pt x="56" y="53151"/>
                    </a:lnTo>
                    <a:cubicBezTo>
                      <a:pt x="1347" y="23432"/>
                      <a:pt x="25815" y="2"/>
                      <a:pt x="55563" y="0"/>
                    </a:cubicBezTo>
                    <a:close/>
                  </a:path>
                </a:pathLst>
              </a:custGeom>
              <a:solidFill>
                <a:srgbClr val="38A169"/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532812" y="1965325"/>
                <a:ext cx="155575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155575" h="88900">
                    <a:moveTo>
                      <a:pt x="100012" y="0"/>
                    </a:moveTo>
                    <a:cubicBezTo>
                      <a:pt x="130699" y="0"/>
                      <a:pt x="155575" y="24876"/>
                      <a:pt x="155575" y="55562"/>
                    </a:cubicBezTo>
                    <a:lnTo>
                      <a:pt x="155575" y="66675"/>
                    </a:lnTo>
                    <a:cubicBezTo>
                      <a:pt x="155575" y="78950"/>
                      <a:pt x="145625" y="88900"/>
                      <a:pt x="133350" y="88900"/>
                    </a:cubicBezTo>
                    <a:lnTo>
                      <a:pt x="22225" y="88900"/>
                    </a:lnTo>
                    <a:cubicBezTo>
                      <a:pt x="9950" y="88900"/>
                      <a:pt x="0" y="78950"/>
                      <a:pt x="0" y="66675"/>
                    </a:cubicBezTo>
                    <a:lnTo>
                      <a:pt x="0" y="55562"/>
                    </a:lnTo>
                    <a:cubicBezTo>
                      <a:pt x="0" y="24876"/>
                      <a:pt x="24876" y="0"/>
                      <a:pt x="55562" y="0"/>
                    </a:cubicBezTo>
                    <a:lnTo>
                      <a:pt x="100012" y="0"/>
                    </a:lnTo>
                    <a:close/>
                  </a:path>
                </a:pathLst>
              </a:custGeom>
              <a:solidFill>
                <a:srgbClr val="38A169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8793480" y="1787842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案例三：零基础学员</a:t>
              </a:r>
              <a:endParaRPr lang="zh-CN" sz="1350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99195" y="2026920"/>
              <a:ext cx="146304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非计算机专业，无编程经验</a:t>
              </a:r>
              <a:endPara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477250" y="2286000"/>
              <a:ext cx="28575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8464868" y="2323624"/>
              <a:ext cx="1728025" cy="762476"/>
              <a:chOff x="8464868" y="2323624"/>
              <a:chExt cx="1728025" cy="762476"/>
            </a:xfrm>
          </p:grpSpPr>
          <p:sp>
            <p:nvSpPr>
              <p:cNvPr id="53" name="TextBox 53"/>
              <p:cNvSpPr txBox="1"/>
              <p:nvPr/>
            </p:nvSpPr>
            <p:spPr>
              <a:xfrm>
                <a:off x="8464868" y="2323624"/>
                <a:ext cx="67484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深度个性化</a:t>
                </a:r>
                <a:endParaRPr lang="zh-CN" sz="97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8465820" y="2522220"/>
                <a:ext cx="134902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D37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从Java语法最基础开始</a:t>
                </a:r>
                <a:endParaRPr lang="zh-CN" sz="9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465820" y="2712720"/>
                <a:ext cx="172707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D37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22个学习模块 · 10个训练任务</a:t>
                </a:r>
                <a:endParaRPr lang="zh-CN" sz="9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8465820" y="2903220"/>
                <a:ext cx="156505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2D37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伴学助手多次解释基础概念</a:t>
                </a:r>
                <a:endParaRPr lang="zh-CN" sz="90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sp>
          <p:nvSpPr>
            <p:cNvPr id="58" name="Rectangle 58"/>
            <p:cNvSpPr/>
            <p:nvPr/>
          </p:nvSpPr>
          <p:spPr>
            <a:xfrm>
              <a:off x="8477250" y="3238500"/>
              <a:ext cx="2857500" cy="571500"/>
            </a:xfrm>
            <a:prstGeom prst="roundRect">
              <a:avLst>
                <a:gd name="adj" fmla="val 13333"/>
              </a:avLst>
            </a:prstGeom>
            <a:solidFill>
              <a:srgbClr val="38A169">
                <a:alpha val="8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560118" y="3371374"/>
              <a:ext cx="57083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38A1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综合评分</a:t>
              </a:r>
              <a:endParaRPr lang="zh-CN" sz="975" b="1" dirty="0">
                <a:solidFill>
                  <a:srgbClr val="38A169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073640" y="3282315"/>
              <a:ext cx="457200" cy="2768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38A169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45分</a:t>
              </a:r>
              <a:endParaRPr lang="zh-CN" sz="1800" b="1" dirty="0">
                <a:solidFill>
                  <a:srgbClr val="38A169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561070" y="3617595"/>
              <a:ext cx="194310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建议加强基础练习后再进入框架学习</a:t>
              </a:r>
              <a:endParaRPr lang="zh-CN" sz="9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63" name="Rectangle 63"/>
          <p:cNvSpPr/>
          <p:nvPr/>
        </p:nvSpPr>
        <p:spPr>
          <a:xfrm>
            <a:off x="571500" y="5381625"/>
            <a:ext cx="7239000" cy="619125"/>
          </a:xfrm>
          <a:prstGeom prst="roundRect">
            <a:avLst>
              <a:gd name="adj" fmla="val 15385"/>
            </a:avLst>
          </a:prstGeom>
          <a:solidFill>
            <a:srgbClr val="1A365D">
              <a:alpha val="5000"/>
            </a:srgbClr>
          </a:solidFill>
          <a:ln w="9525">
            <a:solidFill>
              <a:srgbClr val="1A365D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842645" y="5498465"/>
            <a:ext cx="973455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125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数据可追溯性</a:t>
            </a:r>
            <a:endParaRPr lang="zh-CN" sz="1125" b="1" dirty="0">
              <a:solidFill>
                <a:srgbClr val="1A365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845185" y="5733415"/>
            <a:ext cx="398399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LLM调用日志 · 学习行为记录 · 对话历史 · 导出文件 · 全链路可审计</a:t>
            </a:r>
            <a:endParaRPr lang="zh-CN" sz="975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67" name="Image 6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4122" y="6000750"/>
            <a:ext cx="1688757" cy="762000"/>
          </a:xfrm>
          <a:prstGeom prst="rect">
            <a:avLst/>
          </a:prstGeom>
        </p:spPr>
      </p:pic>
      <p:sp>
        <p:nvSpPr>
          <p:cNvPr id="68" name="TextBox 68"/>
          <p:cNvSpPr txBox="1"/>
          <p:nvPr/>
        </p:nvSpPr>
        <p:spPr>
          <a:xfrm>
            <a:off x="5916549" y="6379845"/>
            <a:ext cx="358902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9 / 12</a:t>
            </a:r>
            <a:endParaRPr lang="zh-CN" sz="900" dirty="0">
              <a:solidFill>
                <a:srgbClr val="A0AE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2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47" y="206375"/>
            <a:ext cx="1259417" cy="476250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472" y="206816"/>
            <a:ext cx="3217472" cy="4595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1020" y="807720"/>
            <a:ext cx="174117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365D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rPr>
              <a:t>商业化方案</a:t>
            </a:r>
            <a:endParaRPr lang="zh-CN" sz="2400" b="1" dirty="0">
              <a:solidFill>
                <a:srgbClr val="1A365D"/>
              </a:solidFill>
              <a:latin typeface="Georgia" panose="02040502050405020303"/>
              <a:ea typeface="微软雅黑" panose="020B0503020204020204" charset="-122"/>
              <a:cs typeface="Georgia" panose="02040502050405020303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58165" y="1191578"/>
            <a:ext cx="284607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718096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目标市场 · 盈利模式 · 推广策略 · 风险应对</a:t>
            </a:r>
            <a:endParaRPr lang="zh-CN" sz="1200" dirty="0">
              <a:solidFill>
                <a:srgbClr val="718096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8" name="Rectangle 8"/>
          <p:cNvSpPr/>
          <p:nvPr/>
        </p:nvSpPr>
        <p:spPr>
          <a:xfrm>
            <a:off x="698500" y="1571625"/>
            <a:ext cx="3429000" cy="1905000"/>
          </a:xfrm>
          <a:prstGeom prst="roundRect">
            <a:avLst>
              <a:gd name="adj" fmla="val 6000"/>
            </a:avLst>
          </a:prstGeom>
          <a:solidFill>
            <a:srgbClr val="F7FAFC"/>
          </a:solidFill>
          <a:ln w="14288">
            <a:solidFill>
              <a:srgbClr val="E2E8F0"/>
            </a:solidFill>
          </a:ln>
        </p:spPr>
      </p:sp>
      <p:sp>
        <p:nvSpPr>
          <p:cNvPr id="9" name="TextBox 9"/>
          <p:cNvSpPr txBox="1"/>
          <p:nvPr/>
        </p:nvSpPr>
        <p:spPr>
          <a:xfrm>
            <a:off x="967105" y="1759585"/>
            <a:ext cx="79057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市场规模</a:t>
            </a:r>
            <a:endParaRPr lang="zh-CN" sz="1350" b="1" dirty="0">
              <a:solidFill>
                <a:srgbClr val="1A365D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8" name="Group 18"/>
          <p:cNvGrpSpPr/>
          <p:nvPr/>
        </p:nvGrpSpPr>
        <p:grpSpPr>
          <a:xfrm rot="0">
            <a:off x="1073150" y="2095500"/>
            <a:ext cx="2470785" cy="976630"/>
            <a:chOff x="843915" y="1933575"/>
            <a:chExt cx="2470785" cy="976313"/>
          </a:xfrm>
        </p:grpSpPr>
        <p:sp>
          <p:nvSpPr>
            <p:cNvPr id="10" name="TextBox 10"/>
            <p:cNvSpPr txBox="1"/>
            <p:nvPr/>
          </p:nvSpPr>
          <p:spPr>
            <a:xfrm>
              <a:off x="843915" y="19821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中国在线教育市场</a:t>
              </a:r>
              <a:endParaRPr lang="zh-CN" sz="1050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43200" y="1933575"/>
              <a:ext cx="5715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B6CB0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5000亿</a:t>
              </a:r>
              <a:endParaRPr lang="zh-CN" sz="1500" b="1" dirty="0">
                <a:solidFill>
                  <a:srgbClr val="2B6CB0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3915" y="2220278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职业教育占比</a:t>
              </a:r>
              <a:endParaRPr lang="zh-CN" sz="1050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43200" y="2171700"/>
              <a:ext cx="38100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D4AF3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30%</a:t>
              </a:r>
              <a:endParaRPr lang="zh-CN" sz="1500" b="1" dirty="0">
                <a:solidFill>
                  <a:srgbClr val="D4AF37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43915" y="2458402"/>
              <a:ext cx="9227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AI+教育年增长</a:t>
              </a:r>
              <a:endParaRPr lang="zh-CN" sz="1050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743200" y="2409825"/>
              <a:ext cx="489585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38A169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40%+</a:t>
              </a:r>
              <a:endParaRPr lang="zh-CN" sz="1500" b="1" dirty="0">
                <a:solidFill>
                  <a:srgbClr val="38A169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3915" y="2696528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目标细分市场</a:t>
              </a:r>
              <a:endParaRPr lang="zh-CN" sz="1050" dirty="0">
                <a:solidFill>
                  <a:srgbClr val="2D3748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743200" y="2647950"/>
              <a:ext cx="476250" cy="2305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E53E3E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200亿</a:t>
              </a:r>
              <a:endParaRPr lang="zh-CN" sz="1500" b="1" dirty="0">
                <a:solidFill>
                  <a:srgbClr val="E53E3E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4254500" y="1571625"/>
            <a:ext cx="7239000" cy="1905000"/>
            <a:chOff x="4381500" y="1571625"/>
            <a:chExt cx="7239000" cy="1905000"/>
          </a:xfrm>
        </p:grpSpPr>
        <p:sp>
          <p:nvSpPr>
            <p:cNvPr id="20" name="Rectangle 20"/>
            <p:cNvSpPr/>
            <p:nvPr/>
          </p:nvSpPr>
          <p:spPr>
            <a:xfrm>
              <a:off x="4381500" y="1571625"/>
              <a:ext cx="7239000" cy="1905000"/>
            </a:xfrm>
            <a:prstGeom prst="roundRect">
              <a:avLst>
                <a:gd name="adj" fmla="val 6000"/>
              </a:avLst>
            </a:prstGeom>
            <a:solidFill>
              <a:srgbClr val="F7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650105" y="17592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盈利模式</a:t>
              </a:r>
              <a:endParaRPr lang="zh-CN" sz="1350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4667250" y="2095500"/>
              <a:ext cx="1571625" cy="1095375"/>
              <a:chOff x="4667250" y="2095500"/>
              <a:chExt cx="1571625" cy="1095375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4667250" y="2095500"/>
                <a:ext cx="1571625" cy="1095375"/>
              </a:xfrm>
              <a:prstGeom prst="roundRect">
                <a:avLst>
                  <a:gd name="adj" fmla="val 6957"/>
                </a:avLst>
              </a:prstGeom>
              <a:solidFill>
                <a:srgbClr val="FFFFFF"/>
              </a:solidFill>
              <a:ln w="9525">
                <a:solidFill>
                  <a:srgbClr val="2B6CB0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5126226" y="2220278"/>
                <a:ext cx="64414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2B6CB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SaaS订阅</a:t>
                </a:r>
                <a:endParaRPr lang="zh-CN" sz="1050" b="1" dirty="0">
                  <a:solidFill>
                    <a:srgbClr val="2B6CB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053012" y="2426018"/>
                <a:ext cx="790575" cy="2076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A365D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49-99元/月</a:t>
                </a:r>
                <a:endParaRPr lang="zh-CN" sz="1350" b="1" dirty="0">
                  <a:solidFill>
                    <a:srgbClr val="1A365D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077527" y="2692241"/>
                <a:ext cx="74154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个人版/专业版</a:t>
                </a:r>
                <a:endParaRPr lang="zh-CN" sz="82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162788" y="2863691"/>
                <a:ext cx="57102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按功能分级</a:t>
                </a:r>
                <a:endParaRPr lang="zh-CN" sz="82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6381750" y="2095500"/>
              <a:ext cx="1571625" cy="1095375"/>
              <a:chOff x="6381750" y="2095500"/>
              <a:chExt cx="1571625" cy="1095375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381750" y="2095500"/>
                <a:ext cx="1571625" cy="1095375"/>
              </a:xfrm>
              <a:prstGeom prst="roundRect">
                <a:avLst>
                  <a:gd name="adj" fmla="val 6957"/>
                </a:avLst>
              </a:prstGeom>
              <a:solidFill>
                <a:srgbClr val="FFFFFF"/>
              </a:solidFill>
              <a:ln w="9525">
                <a:solidFill>
                  <a:srgbClr val="D4AF37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855428" y="222027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D4AF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按次付费</a:t>
                </a:r>
                <a:endParaRPr lang="zh-CN" sz="1050" b="1" dirty="0">
                  <a:solidFill>
                    <a:srgbClr val="D4AF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860222" y="2426018"/>
                <a:ext cx="605155" cy="2076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A365D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9.9元/次</a:t>
                </a:r>
                <a:endParaRPr lang="zh-CN" sz="1350" b="1" dirty="0">
                  <a:solidFill>
                    <a:srgbClr val="1A365D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712267" y="2692241"/>
                <a:ext cx="90106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单次生成学习计划</a:t>
                </a:r>
                <a:endParaRPr lang="zh-CN" sz="82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877288" y="2863691"/>
                <a:ext cx="57102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低门槛体验</a:t>
                </a:r>
                <a:endParaRPr lang="zh-CN" sz="82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8096250" y="2095500"/>
              <a:ext cx="1571625" cy="1095375"/>
              <a:chOff x="8096250" y="2095500"/>
              <a:chExt cx="1571625" cy="1095375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8096250" y="2095500"/>
                <a:ext cx="1571625" cy="1095375"/>
              </a:xfrm>
              <a:prstGeom prst="roundRect">
                <a:avLst>
                  <a:gd name="adj" fmla="val 6957"/>
                </a:avLst>
              </a:prstGeom>
              <a:solidFill>
                <a:srgbClr val="FFFFFF"/>
              </a:solidFill>
              <a:ln w="9525">
                <a:solidFill>
                  <a:srgbClr val="38A169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643437" y="2220278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38A1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企业版</a:t>
                </a:r>
                <a:endParaRPr lang="zh-CN" sz="1050" b="1" dirty="0">
                  <a:solidFill>
                    <a:srgbClr val="38A1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510588" y="2426018"/>
                <a:ext cx="733425" cy="2076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A365D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5000元/年</a:t>
                </a:r>
                <a:endParaRPr lang="zh-CN" sz="1350" b="1" dirty="0">
                  <a:solidFill>
                    <a:srgbClr val="1A365D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426768" y="2692241"/>
                <a:ext cx="90106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培训机构批量部署</a:t>
                </a:r>
                <a:endParaRPr lang="zh-CN" sz="82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8591788" y="2863691"/>
                <a:ext cx="57102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定制化服务</a:t>
                </a:r>
                <a:endParaRPr lang="zh-CN" sz="82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9810750" y="2095500"/>
              <a:ext cx="1571625" cy="1095375"/>
              <a:chOff x="9810750" y="2095500"/>
              <a:chExt cx="1571625" cy="1095375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9810750" y="2095500"/>
                <a:ext cx="1571625" cy="1095375"/>
              </a:xfrm>
              <a:prstGeom prst="roundRect">
                <a:avLst>
                  <a:gd name="adj" fmla="val 6957"/>
                </a:avLst>
              </a:prstGeom>
              <a:solidFill>
                <a:srgbClr val="FFFFFF"/>
              </a:solidFill>
              <a:ln w="9525">
                <a:solidFill>
                  <a:srgbClr val="E53E3E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10328534" y="2220278"/>
                <a:ext cx="5265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53E3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API接口</a:t>
                </a:r>
                <a:endParaRPr lang="zh-CN" sz="1050" b="1" dirty="0">
                  <a:solidFill>
                    <a:srgbClr val="E53E3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10289222" y="2426018"/>
                <a:ext cx="605155" cy="20764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A365D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rPr>
                  <a:t>0.1元/次</a:t>
                </a:r>
                <a:endParaRPr lang="zh-CN" sz="1350" b="1" dirty="0">
                  <a:solidFill>
                    <a:srgbClr val="1A365D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0196274" y="2692241"/>
                <a:ext cx="79105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第三方平台集成</a:t>
                </a:r>
                <a:endParaRPr lang="zh-CN" sz="82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10361295" y="2863691"/>
                <a:ext cx="4610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开放生态</a:t>
                </a:r>
                <a:endParaRPr lang="zh-CN" sz="82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64" name="Group 64"/>
          <p:cNvGrpSpPr/>
          <p:nvPr/>
        </p:nvGrpSpPr>
        <p:grpSpPr>
          <a:xfrm>
            <a:off x="698500" y="3590925"/>
            <a:ext cx="5334000" cy="2286000"/>
            <a:chOff x="571500" y="3714750"/>
            <a:chExt cx="5334000" cy="2286000"/>
          </a:xfrm>
        </p:grpSpPr>
        <p:sp>
          <p:nvSpPr>
            <p:cNvPr id="47" name="Rectangle 47"/>
            <p:cNvSpPr/>
            <p:nvPr/>
          </p:nvSpPr>
          <p:spPr>
            <a:xfrm>
              <a:off x="571500" y="3714750"/>
              <a:ext cx="5334000" cy="2286000"/>
            </a:xfrm>
            <a:prstGeom prst="roundRect">
              <a:avLst>
                <a:gd name="adj" fmla="val 5000"/>
              </a:avLst>
            </a:prstGeom>
            <a:solidFill>
              <a:srgbClr val="F7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840105" y="39023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推广策略</a:t>
              </a:r>
              <a:endParaRPr lang="zh-CN" sz="1350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53" name="Group 53"/>
            <p:cNvGrpSpPr/>
            <p:nvPr/>
          </p:nvGrpSpPr>
          <p:grpSpPr>
            <a:xfrm>
              <a:off x="843915" y="4125278"/>
              <a:ext cx="1696427" cy="796766"/>
              <a:chOff x="843915" y="4125278"/>
              <a:chExt cx="1696427" cy="796766"/>
            </a:xfrm>
          </p:grpSpPr>
          <p:sp>
            <p:nvSpPr>
              <p:cNvPr id="49" name="TextBox 49"/>
              <p:cNvSpPr txBox="1"/>
              <p:nvPr/>
            </p:nvSpPr>
            <p:spPr>
              <a:xfrm>
                <a:off x="843915" y="412527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6CB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线上渠道</a:t>
                </a:r>
                <a:endParaRPr lang="zh-CN" sz="1050" b="1" dirty="0">
                  <a:solidFill>
                    <a:srgbClr val="2B6CB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844868" y="4342924"/>
                <a:ext cx="151995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高校BBS和学生社群推广</a:t>
                </a:r>
                <a:endParaRPr lang="zh-CN" sz="97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844868" y="4533424"/>
                <a:ext cx="169547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技术博客和公众号内容营销</a:t>
                </a:r>
                <a:endParaRPr lang="zh-CN" sz="97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844868" y="4723924"/>
                <a:ext cx="104539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短视频平台演示</a:t>
                </a:r>
                <a:endParaRPr lang="zh-CN" sz="97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3415665" y="4125278"/>
              <a:ext cx="1436394" cy="796766"/>
              <a:chOff x="3415665" y="4125278"/>
              <a:chExt cx="1436394" cy="796766"/>
            </a:xfrm>
          </p:grpSpPr>
          <p:sp>
            <p:nvSpPr>
              <p:cNvPr id="54" name="TextBox 54"/>
              <p:cNvSpPr txBox="1"/>
              <p:nvPr/>
            </p:nvSpPr>
            <p:spPr>
              <a:xfrm>
                <a:off x="3415665" y="4125278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D4AF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线下渠道</a:t>
                </a:r>
                <a:endParaRPr lang="zh-CN" sz="1050" b="1" dirty="0">
                  <a:solidFill>
                    <a:srgbClr val="D4AF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3416618" y="4342924"/>
                <a:ext cx="14354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高校就业指导中心合作</a:t>
                </a:r>
                <a:endParaRPr lang="zh-CN" sz="97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3416618" y="4533424"/>
                <a:ext cx="14354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职业培训机构渠道合作</a:t>
                </a:r>
                <a:endParaRPr lang="zh-CN" sz="97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3416618" y="4723924"/>
                <a:ext cx="6553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竞赛展示</a:t>
                </a:r>
                <a:endParaRPr lang="zh-CN" sz="97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843915" y="4934902"/>
              <a:ext cx="2359510" cy="796767"/>
              <a:chOff x="843915" y="4934902"/>
              <a:chExt cx="2359510" cy="796767"/>
            </a:xfrm>
          </p:grpSpPr>
          <p:sp>
            <p:nvSpPr>
              <p:cNvPr id="59" name="TextBox 59"/>
              <p:cNvSpPr txBox="1"/>
              <p:nvPr/>
            </p:nvSpPr>
            <p:spPr>
              <a:xfrm>
                <a:off x="843915" y="4934902"/>
                <a:ext cx="61474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38A1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增长策略</a:t>
                </a:r>
                <a:endParaRPr lang="zh-CN" sz="1050" b="1" dirty="0">
                  <a:solidFill>
                    <a:srgbClr val="38A1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844868" y="5152549"/>
                <a:ext cx="228704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免费体验版（每天1次生成）吸引用户</a:t>
                </a:r>
                <a:endParaRPr lang="zh-CN" sz="97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44868" y="5343049"/>
                <a:ext cx="235855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学生推荐计划（推荐1人获1个月免费）</a:t>
                </a:r>
                <a:endParaRPr lang="zh-CN" sz="97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2" name="TextBox 62"/>
              <p:cNvSpPr txBox="1"/>
              <p:nvPr/>
            </p:nvSpPr>
            <p:spPr>
              <a:xfrm>
                <a:off x="844868" y="5533549"/>
                <a:ext cx="20855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· 与招聘平台合作（简历评估引流）</a:t>
                </a:r>
                <a:endParaRPr lang="zh-CN" sz="97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83" name="Group 83"/>
          <p:cNvGrpSpPr/>
          <p:nvPr/>
        </p:nvGrpSpPr>
        <p:grpSpPr>
          <a:xfrm>
            <a:off x="6159500" y="3590925"/>
            <a:ext cx="5334000" cy="2286000"/>
            <a:chOff x="6286500" y="3714750"/>
            <a:chExt cx="5334000" cy="2286000"/>
          </a:xfrm>
        </p:grpSpPr>
        <p:sp>
          <p:nvSpPr>
            <p:cNvPr id="65" name="Rectangle 65"/>
            <p:cNvSpPr/>
            <p:nvPr/>
          </p:nvSpPr>
          <p:spPr>
            <a:xfrm>
              <a:off x="6286500" y="3714750"/>
              <a:ext cx="5334000" cy="2286000"/>
            </a:xfrm>
            <a:prstGeom prst="roundRect">
              <a:avLst>
                <a:gd name="adj" fmla="val 5000"/>
              </a:avLst>
            </a:prstGeom>
            <a:solidFill>
              <a:srgbClr val="F7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555105" y="390239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风险应对</a:t>
              </a:r>
              <a:endParaRPr lang="zh-CN" sz="1350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70" name="Group 70"/>
            <p:cNvGrpSpPr/>
            <p:nvPr/>
          </p:nvGrpSpPr>
          <p:grpSpPr>
            <a:xfrm>
              <a:off x="6572250" y="4238625"/>
              <a:ext cx="4762500" cy="333375"/>
              <a:chOff x="6572250" y="4238625"/>
              <a:chExt cx="4762500" cy="333375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6572250" y="4238625"/>
                <a:ext cx="476250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E53E3E">
                  <a:alpha val="8000"/>
                </a:srgbClr>
              </a:solidFill>
              <a:ln>
                <a:noFill/>
              </a:ln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6656070" y="4351020"/>
                <a:ext cx="76005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E53E3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LLM服务中断</a:t>
                </a:r>
                <a:endParaRPr lang="zh-CN" sz="900" b="1" dirty="0">
                  <a:solidFill>
                    <a:srgbClr val="E53E3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69" name="TextBox 69"/>
              <p:cNvSpPr txBox="1"/>
              <p:nvPr/>
            </p:nvSpPr>
            <p:spPr>
              <a:xfrm>
                <a:off x="7989570" y="4351020"/>
                <a:ext cx="172107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多模型备份（qwen/GPT/文心）</a:t>
                </a:r>
                <a:endPara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74" name="Group 74"/>
            <p:cNvGrpSpPr/>
            <p:nvPr/>
          </p:nvGrpSpPr>
          <p:grpSpPr>
            <a:xfrm>
              <a:off x="6572250" y="4667250"/>
              <a:ext cx="4762500" cy="333375"/>
              <a:chOff x="6572250" y="4667250"/>
              <a:chExt cx="4762500" cy="333375"/>
            </a:xfrm>
          </p:grpSpPr>
          <p:sp>
            <p:nvSpPr>
              <p:cNvPr id="71" name="Rectangle 71"/>
              <p:cNvSpPr/>
              <p:nvPr/>
            </p:nvSpPr>
            <p:spPr>
              <a:xfrm>
                <a:off x="6572250" y="4667250"/>
                <a:ext cx="476250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FF980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6656070" y="4779645"/>
                <a:ext cx="9049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FF980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输出质量不稳定</a:t>
                </a:r>
                <a:endParaRPr lang="zh-CN" sz="900" b="1" dirty="0">
                  <a:solidFill>
                    <a:srgbClr val="FF980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7989570" y="4779645"/>
                <a:ext cx="16850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7层解析 + 降级方案 + 人工审核</a:t>
                </a:r>
                <a:endPara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6572250" y="5095875"/>
              <a:ext cx="4762500" cy="333375"/>
              <a:chOff x="6572250" y="5095875"/>
              <a:chExt cx="4762500" cy="333375"/>
            </a:xfrm>
          </p:grpSpPr>
          <p:sp>
            <p:nvSpPr>
              <p:cNvPr id="75" name="Rectangle 75"/>
              <p:cNvSpPr/>
              <p:nvPr/>
            </p:nvSpPr>
            <p:spPr>
              <a:xfrm>
                <a:off x="6572250" y="5095875"/>
                <a:ext cx="476250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2B6CB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6656070" y="5208270"/>
                <a:ext cx="7789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2B6CB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数据安全风险</a:t>
                </a:r>
                <a:endParaRPr lang="zh-CN" sz="900" b="1" dirty="0">
                  <a:solidFill>
                    <a:srgbClr val="2B6CB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7989570" y="5208270"/>
                <a:ext cx="173907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加密存储 + 权限控制 + 定期审计</a:t>
                </a:r>
                <a:endPara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6572250" y="5524500"/>
              <a:ext cx="4762500" cy="333375"/>
              <a:chOff x="6572250" y="5524500"/>
              <a:chExt cx="4762500" cy="333375"/>
            </a:xfrm>
          </p:grpSpPr>
          <p:sp>
            <p:nvSpPr>
              <p:cNvPr id="79" name="Rectangle 79"/>
              <p:cNvSpPr/>
              <p:nvPr/>
            </p:nvSpPr>
            <p:spPr>
              <a:xfrm>
                <a:off x="6572250" y="5524500"/>
                <a:ext cx="4762500" cy="333375"/>
              </a:xfrm>
              <a:prstGeom prst="roundRect">
                <a:avLst>
                  <a:gd name="adj" fmla="val 17143"/>
                </a:avLst>
              </a:prstGeom>
              <a:solidFill>
                <a:srgbClr val="38A169">
                  <a:alpha val="8000"/>
                </a:srgbClr>
              </a:solidFill>
              <a:ln>
                <a:noFill/>
              </a:ln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6656070" y="5636895"/>
                <a:ext cx="77895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b="1" dirty="0">
                    <a:solidFill>
                      <a:srgbClr val="38A1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同类竞品出现</a:t>
                </a:r>
                <a:endParaRPr lang="zh-CN" sz="900" b="1" dirty="0">
                  <a:solidFill>
                    <a:srgbClr val="38A1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81" name="TextBox 81"/>
              <p:cNvSpPr txBox="1"/>
              <p:nvPr/>
            </p:nvSpPr>
            <p:spPr>
              <a:xfrm>
                <a:off x="7989570" y="5636895"/>
                <a:ext cx="181708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RAG增强 + 多模态支持 · 建立壁垒</a:t>
                </a:r>
                <a:endPara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pic>
        <p:nvPicPr>
          <p:cNvPr id="84" name="Image 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4122" y="6000750"/>
            <a:ext cx="1688757" cy="762000"/>
          </a:xfrm>
          <a:prstGeom prst="rect">
            <a:avLst/>
          </a:prstGeom>
        </p:spPr>
      </p:pic>
      <p:sp>
        <p:nvSpPr>
          <p:cNvPr id="85" name="TextBox 85"/>
          <p:cNvSpPr txBox="1"/>
          <p:nvPr/>
        </p:nvSpPr>
        <p:spPr>
          <a:xfrm>
            <a:off x="5883545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10 / 12</a:t>
            </a:r>
            <a:endParaRPr lang="zh-CN" sz="900" dirty="0">
              <a:solidFill>
                <a:srgbClr val="A0AE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2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47" y="206375"/>
            <a:ext cx="1259417" cy="476250"/>
          </a:xfrm>
          <a:prstGeom prst="rect">
            <a:avLst/>
          </a:prstGeom>
        </p:spPr>
      </p:pic>
      <p:pic>
        <p:nvPicPr>
          <p:cNvPr id="86" name="图片 8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472" y="206816"/>
            <a:ext cx="3217472" cy="45950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1A365D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541020" y="807720"/>
            <a:ext cx="2413254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365D"/>
                </a:solidFill>
                <a:latin typeface="Georgia" panose="02040502050405020303"/>
                <a:ea typeface="微软雅黑" panose="020B0503020204020204" charset="-122"/>
                <a:cs typeface="Georgia" panose="02040502050405020303"/>
              </a:rPr>
              <a:t>应用价值与展望</a:t>
            </a:r>
            <a:endParaRPr lang="zh-CN" sz="2400" b="1" dirty="0">
              <a:solidFill>
                <a:srgbClr val="1A365D"/>
              </a:solidFill>
              <a:latin typeface="Georgia" panose="02040502050405020303"/>
              <a:ea typeface="微软雅黑" panose="020B0503020204020204" charset="-122"/>
              <a:cs typeface="Georgia" panose="02040502050405020303"/>
            </a:endParaRPr>
          </a:p>
        </p:txBody>
      </p:sp>
      <p:grpSp>
        <p:nvGrpSpPr>
          <p:cNvPr id="36" name="Group 36"/>
          <p:cNvGrpSpPr/>
          <p:nvPr/>
        </p:nvGrpSpPr>
        <p:grpSpPr>
          <a:xfrm>
            <a:off x="571500" y="1381125"/>
            <a:ext cx="5334000" cy="2667000"/>
            <a:chOff x="571500" y="1381125"/>
            <a:chExt cx="5334000" cy="2667000"/>
          </a:xfrm>
        </p:grpSpPr>
        <p:sp>
          <p:nvSpPr>
            <p:cNvPr id="7" name="Rectangle 7"/>
            <p:cNvSpPr/>
            <p:nvPr/>
          </p:nvSpPr>
          <p:spPr>
            <a:xfrm>
              <a:off x="571500" y="1381125"/>
              <a:ext cx="5334000" cy="2667000"/>
            </a:xfrm>
            <a:prstGeom prst="roundRect">
              <a:avLst>
                <a:gd name="adj" fmla="val 4286"/>
              </a:avLst>
            </a:prstGeom>
            <a:solidFill>
              <a:srgbClr val="F7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40105" y="15687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核心贡献</a:t>
              </a:r>
              <a:endParaRPr lang="zh-CN" sz="1350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857250" y="1952625"/>
              <a:ext cx="4762500" cy="400050"/>
              <a:chOff x="857250" y="1952625"/>
              <a:chExt cx="4762500" cy="400050"/>
            </a:xfrm>
          </p:grpSpPr>
          <p:sp>
            <p:nvSpPr>
              <p:cNvPr id="9" name="Rectangle 9"/>
              <p:cNvSpPr/>
              <p:nvPr/>
            </p:nvSpPr>
            <p:spPr>
              <a:xfrm>
                <a:off x="857250" y="1952625"/>
                <a:ext cx="47625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2B6CB0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990598" y="2047875"/>
                <a:ext cx="152404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52404" h="190500">
                    <a:moveTo>
                      <a:pt x="133324" y="20669"/>
                    </a:moveTo>
                    <a:cubicBezTo>
                      <a:pt x="144757" y="24698"/>
                      <a:pt x="152404" y="35502"/>
                      <a:pt x="152402" y="47625"/>
                    </a:cubicBezTo>
                    <a:lnTo>
                      <a:pt x="152402" y="161925"/>
                    </a:lnTo>
                    <a:cubicBezTo>
                      <a:pt x="152402" y="177707"/>
                      <a:pt x="139609" y="190500"/>
                      <a:pt x="123827" y="190500"/>
                    </a:cubicBezTo>
                    <a:lnTo>
                      <a:pt x="28577" y="190500"/>
                    </a:lnTo>
                    <a:cubicBezTo>
                      <a:pt x="12796" y="190500"/>
                      <a:pt x="2" y="177707"/>
                      <a:pt x="2" y="161925"/>
                    </a:cubicBezTo>
                    <a:lnTo>
                      <a:pt x="2" y="47625"/>
                    </a:lnTo>
                    <a:cubicBezTo>
                      <a:pt x="0" y="35502"/>
                      <a:pt x="7647" y="24698"/>
                      <a:pt x="19081" y="20669"/>
                    </a:cubicBezTo>
                    <a:cubicBezTo>
                      <a:pt x="19948" y="41065"/>
                      <a:pt x="36738" y="57153"/>
                      <a:pt x="57152" y="57150"/>
                    </a:cubicBezTo>
                    <a:lnTo>
                      <a:pt x="95252" y="57150"/>
                    </a:lnTo>
                    <a:cubicBezTo>
                      <a:pt x="114809" y="57152"/>
                      <a:pt x="131191" y="42346"/>
                      <a:pt x="133162" y="22889"/>
                    </a:cubicBezTo>
                    <a:close/>
                    <a:moveTo>
                      <a:pt x="98043" y="88516"/>
                    </a:moveTo>
                    <a:lnTo>
                      <a:pt x="66677" y="119872"/>
                    </a:lnTo>
                    <a:lnTo>
                      <a:pt x="54361" y="107566"/>
                    </a:lnTo>
                    <a:cubicBezTo>
                      <a:pt x="51970" y="105090"/>
                      <a:pt x="48428" y="104097"/>
                      <a:pt x="45098" y="104968"/>
                    </a:cubicBezTo>
                    <a:cubicBezTo>
                      <a:pt x="41768" y="105840"/>
                      <a:pt x="39167" y="108441"/>
                      <a:pt x="38295" y="111771"/>
                    </a:cubicBezTo>
                    <a:cubicBezTo>
                      <a:pt x="37424" y="115101"/>
                      <a:pt x="38417" y="118643"/>
                      <a:pt x="40893" y="121034"/>
                    </a:cubicBezTo>
                    <a:lnTo>
                      <a:pt x="59943" y="140084"/>
                    </a:lnTo>
                    <a:cubicBezTo>
                      <a:pt x="63662" y="143803"/>
                      <a:pt x="69692" y="143803"/>
                      <a:pt x="73411" y="140084"/>
                    </a:cubicBezTo>
                    <a:lnTo>
                      <a:pt x="111511" y="101984"/>
                    </a:lnTo>
                    <a:cubicBezTo>
                      <a:pt x="115121" y="98247"/>
                      <a:pt x="115069" y="92306"/>
                      <a:pt x="111395" y="88632"/>
                    </a:cubicBezTo>
                    <a:cubicBezTo>
                      <a:pt x="107721" y="84958"/>
                      <a:pt x="101780" y="84906"/>
                      <a:pt x="98043" y="88516"/>
                    </a:cubicBezTo>
                    <a:moveTo>
                      <a:pt x="95252" y="0"/>
                    </a:moveTo>
                    <a:cubicBezTo>
                      <a:pt x="105773" y="0"/>
                      <a:pt x="114302" y="8529"/>
                      <a:pt x="114302" y="19050"/>
                    </a:cubicBezTo>
                    <a:cubicBezTo>
                      <a:pt x="114302" y="29571"/>
                      <a:pt x="105773" y="38100"/>
                      <a:pt x="95252" y="38100"/>
                    </a:cubicBezTo>
                    <a:lnTo>
                      <a:pt x="57152" y="38100"/>
                    </a:lnTo>
                    <a:cubicBezTo>
                      <a:pt x="46631" y="38100"/>
                      <a:pt x="38102" y="29571"/>
                      <a:pt x="38102" y="19050"/>
                    </a:cubicBezTo>
                    <a:cubicBezTo>
                      <a:pt x="38102" y="8529"/>
                      <a:pt x="46631" y="0"/>
                      <a:pt x="57152" y="0"/>
                    </a:cubicBezTo>
                    <a:close/>
                  </a:path>
                </a:pathLst>
              </a:custGeom>
              <a:solidFill>
                <a:srgbClr val="2B6CB0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272540" y="2001202"/>
                <a:ext cx="160711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2B6CB0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多Agent流水线协同架构</a:t>
                </a:r>
                <a:endParaRPr lang="zh-CN" sz="1050" b="1" dirty="0">
                  <a:solidFill>
                    <a:srgbClr val="2B6CB0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274445" y="2169795"/>
                <a:ext cx="250717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6个专业化Agent + SystemState共享数据总线</a:t>
                </a:r>
                <a:endPara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857250" y="2428875"/>
              <a:ext cx="4762500" cy="400050"/>
              <a:chOff x="857250" y="2428875"/>
              <a:chExt cx="4762500" cy="400050"/>
            </a:xfrm>
          </p:grpSpPr>
          <p:sp>
            <p:nvSpPr>
              <p:cNvPr id="14" name="Rectangle 14"/>
              <p:cNvSpPr/>
              <p:nvPr/>
            </p:nvSpPr>
            <p:spPr>
              <a:xfrm>
                <a:off x="857250" y="2428875"/>
                <a:ext cx="47625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D4AF37">
                  <a:alpha val="8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64940" y="2517515"/>
                <a:ext cx="203721" cy="203721"/>
              </a:xfrm>
              <a:custGeom>
                <a:avLst/>
                <a:gdLst/>
                <a:ahLst/>
                <a:cxnLst/>
                <a:rect l="l" t="t" r="r" b="b"/>
                <a:pathLst>
                  <a:path w="203721" h="203721">
                    <a:moveTo>
                      <a:pt x="127073" y="26432"/>
                    </a:moveTo>
                    <a:cubicBezTo>
                      <a:pt x="127591" y="28571"/>
                      <a:pt x="129100" y="30334"/>
                      <a:pt x="131133" y="31178"/>
                    </a:cubicBezTo>
                    <a:cubicBezTo>
                      <a:pt x="133166" y="32021"/>
                      <a:pt x="135480" y="31843"/>
                      <a:pt x="137360" y="30699"/>
                    </a:cubicBezTo>
                    <a:cubicBezTo>
                      <a:pt x="160592" y="16554"/>
                      <a:pt x="187176" y="43129"/>
                      <a:pt x="173031" y="66361"/>
                    </a:cubicBezTo>
                    <a:cubicBezTo>
                      <a:pt x="171887" y="68240"/>
                      <a:pt x="171708" y="70552"/>
                      <a:pt x="172549" y="72585"/>
                    </a:cubicBezTo>
                    <a:cubicBezTo>
                      <a:pt x="173390" y="74618"/>
                      <a:pt x="175151" y="76127"/>
                      <a:pt x="177289" y="76648"/>
                    </a:cubicBezTo>
                    <a:cubicBezTo>
                      <a:pt x="203721" y="83058"/>
                      <a:pt x="203721" y="120653"/>
                      <a:pt x="177289" y="127073"/>
                    </a:cubicBezTo>
                    <a:cubicBezTo>
                      <a:pt x="175150" y="127591"/>
                      <a:pt x="173386" y="129100"/>
                      <a:pt x="172543" y="131133"/>
                    </a:cubicBezTo>
                    <a:cubicBezTo>
                      <a:pt x="171700" y="133166"/>
                      <a:pt x="171877" y="135480"/>
                      <a:pt x="173022" y="137360"/>
                    </a:cubicBezTo>
                    <a:cubicBezTo>
                      <a:pt x="187166" y="160592"/>
                      <a:pt x="160592" y="187176"/>
                      <a:pt x="137360" y="173031"/>
                    </a:cubicBezTo>
                    <a:cubicBezTo>
                      <a:pt x="135481" y="171887"/>
                      <a:pt x="133169" y="171708"/>
                      <a:pt x="131136" y="172549"/>
                    </a:cubicBezTo>
                    <a:cubicBezTo>
                      <a:pt x="129103" y="173390"/>
                      <a:pt x="127594" y="175151"/>
                      <a:pt x="127073" y="177289"/>
                    </a:cubicBezTo>
                    <a:cubicBezTo>
                      <a:pt x="120663" y="203721"/>
                      <a:pt x="83068" y="203721"/>
                      <a:pt x="76648" y="177289"/>
                    </a:cubicBezTo>
                    <a:cubicBezTo>
                      <a:pt x="76129" y="175150"/>
                      <a:pt x="74621" y="173386"/>
                      <a:pt x="72588" y="172543"/>
                    </a:cubicBezTo>
                    <a:cubicBezTo>
                      <a:pt x="70555" y="171700"/>
                      <a:pt x="68241" y="171877"/>
                      <a:pt x="66361" y="173022"/>
                    </a:cubicBezTo>
                    <a:cubicBezTo>
                      <a:pt x="43129" y="187166"/>
                      <a:pt x="16545" y="160592"/>
                      <a:pt x="30690" y="137360"/>
                    </a:cubicBezTo>
                    <a:cubicBezTo>
                      <a:pt x="31834" y="135481"/>
                      <a:pt x="32013" y="133169"/>
                      <a:pt x="31172" y="131136"/>
                    </a:cubicBezTo>
                    <a:cubicBezTo>
                      <a:pt x="30330" y="129103"/>
                      <a:pt x="28569" y="127594"/>
                      <a:pt x="26432" y="127073"/>
                    </a:cubicBezTo>
                    <a:cubicBezTo>
                      <a:pt x="0" y="120663"/>
                      <a:pt x="0" y="83068"/>
                      <a:pt x="26432" y="76648"/>
                    </a:cubicBezTo>
                    <a:cubicBezTo>
                      <a:pt x="28571" y="76129"/>
                      <a:pt x="30334" y="74621"/>
                      <a:pt x="31178" y="72588"/>
                    </a:cubicBezTo>
                    <a:cubicBezTo>
                      <a:pt x="32021" y="70555"/>
                      <a:pt x="31843" y="68241"/>
                      <a:pt x="30699" y="66361"/>
                    </a:cubicBezTo>
                    <a:cubicBezTo>
                      <a:pt x="16554" y="43129"/>
                      <a:pt x="43129" y="16545"/>
                      <a:pt x="66361" y="30690"/>
                    </a:cubicBezTo>
                    <a:cubicBezTo>
                      <a:pt x="68238" y="31843"/>
                      <a:pt x="70554" y="32026"/>
                      <a:pt x="72590" y="31184"/>
                    </a:cubicBezTo>
                    <a:cubicBezTo>
                      <a:pt x="74626" y="30341"/>
                      <a:pt x="76134" y="28574"/>
                      <a:pt x="76648" y="26432"/>
                    </a:cubicBezTo>
                    <a:cubicBezTo>
                      <a:pt x="83058" y="0"/>
                      <a:pt x="120653" y="0"/>
                      <a:pt x="127073" y="26432"/>
                    </a:cubicBezTo>
                    <a:close/>
                    <a:moveTo>
                      <a:pt x="101860" y="73285"/>
                    </a:moveTo>
                    <a:cubicBezTo>
                      <a:pt x="86079" y="73285"/>
                      <a:pt x="73285" y="86079"/>
                      <a:pt x="73285" y="101860"/>
                    </a:cubicBezTo>
                    <a:cubicBezTo>
                      <a:pt x="73285" y="117642"/>
                      <a:pt x="86079" y="130435"/>
                      <a:pt x="101860" y="130435"/>
                    </a:cubicBezTo>
                    <a:cubicBezTo>
                      <a:pt x="117642" y="130435"/>
                      <a:pt x="130435" y="117642"/>
                      <a:pt x="130435" y="101860"/>
                    </a:cubicBezTo>
                    <a:cubicBezTo>
                      <a:pt x="130435" y="86079"/>
                      <a:pt x="117642" y="73285"/>
                      <a:pt x="101860" y="73285"/>
                    </a:cubicBezTo>
                  </a:path>
                </a:pathLst>
              </a:custGeom>
              <a:solidFill>
                <a:srgbClr val="D4AF37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72540" y="2477452"/>
                <a:ext cx="134248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D4AF37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7层级联JSON解析器</a:t>
                </a:r>
                <a:endParaRPr lang="zh-CN" sz="1050" b="1" dirty="0">
                  <a:solidFill>
                    <a:srgbClr val="D4AF37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274445" y="2646045"/>
                <a:ext cx="137302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解析成功率 75% → 98.5%</a:t>
                </a:r>
                <a:endPara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57250" y="2905125"/>
              <a:ext cx="4762500" cy="400050"/>
              <a:chOff x="857250" y="2905125"/>
              <a:chExt cx="4762500" cy="4000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857250" y="2905125"/>
                <a:ext cx="47625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38A169">
                  <a:alpha val="8000"/>
                </a:srgbClr>
              </a:solidFill>
              <a:ln>
                <a:noFill/>
              </a:ln>
            </p:spPr>
          </p:sp>
          <p:grpSp>
            <p:nvGrpSpPr>
              <p:cNvPr id="27" name="Group 27"/>
              <p:cNvGrpSpPr/>
              <p:nvPr/>
            </p:nvGrpSpPr>
            <p:grpSpPr>
              <a:xfrm>
                <a:off x="971282" y="3000375"/>
                <a:ext cx="191037" cy="190500"/>
                <a:chOff x="971282" y="3000375"/>
                <a:chExt cx="191037" cy="190500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971282" y="3086100"/>
                  <a:ext cx="29112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12" h="19050">
                      <a:moveTo>
                        <a:pt x="19318" y="0"/>
                      </a:moveTo>
                      <a:cubicBezTo>
                        <a:pt x="24358" y="6"/>
                        <a:pt x="28521" y="3936"/>
                        <a:pt x="28816" y="8967"/>
                      </a:cubicBezTo>
                      <a:cubicBezTo>
                        <a:pt x="29112" y="13998"/>
                        <a:pt x="25437" y="18388"/>
                        <a:pt x="20433" y="18983"/>
                      </a:cubicBezTo>
                      <a:lnTo>
                        <a:pt x="19318" y="19050"/>
                      </a:lnTo>
                      <a:lnTo>
                        <a:pt x="9793" y="19050"/>
                      </a:lnTo>
                      <a:cubicBezTo>
                        <a:pt x="4754" y="19044"/>
                        <a:pt x="591" y="15114"/>
                        <a:pt x="295" y="10083"/>
                      </a:cubicBezTo>
                      <a:cubicBezTo>
                        <a:pt x="0" y="5052"/>
                        <a:pt x="3675" y="662"/>
                        <a:pt x="8679" y="67"/>
                      </a:cubicBezTo>
                      <a:lnTo>
                        <a:pt x="9793" y="0"/>
                      </a:lnTo>
                      <a:lnTo>
                        <a:pt x="19318" y="0"/>
                      </a:lnTo>
                      <a:close/>
                    </a:path>
                  </a:pathLst>
                </a:custGeom>
                <a:solidFill>
                  <a:srgbClr val="38A169"/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057275" y="3000375"/>
                  <a:ext cx="19050" cy="288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" h="28843">
                      <a:moveTo>
                        <a:pt x="9525" y="0"/>
                      </a:moveTo>
                      <a:cubicBezTo>
                        <a:pt x="14354" y="1"/>
                        <a:pt x="18418" y="3615"/>
                        <a:pt x="18983" y="8411"/>
                      </a:cubicBezTo>
                      <a:lnTo>
                        <a:pt x="19050" y="9525"/>
                      </a:lnTo>
                      <a:lnTo>
                        <a:pt x="19050" y="19050"/>
                      </a:lnTo>
                      <a:cubicBezTo>
                        <a:pt x="19044" y="24090"/>
                        <a:pt x="15114" y="28253"/>
                        <a:pt x="10083" y="28548"/>
                      </a:cubicBezTo>
                      <a:cubicBezTo>
                        <a:pt x="5052" y="28843"/>
                        <a:pt x="662" y="25169"/>
                        <a:pt x="67" y="20164"/>
                      </a:cubicBezTo>
                      <a:lnTo>
                        <a:pt x="0" y="19050"/>
                      </a:lnTo>
                      <a:lnTo>
                        <a:pt x="0" y="9525"/>
                      </a:lnTo>
                      <a:cubicBezTo>
                        <a:pt x="0" y="4264"/>
                        <a:pt x="4264" y="0"/>
                        <a:pt x="9525" y="0"/>
                      </a:cubicBezTo>
                      <a:close/>
                    </a:path>
                  </a:pathLst>
                </a:custGeom>
                <a:solidFill>
                  <a:srgbClr val="38A169"/>
                </a:solidFill>
                <a:ln>
                  <a:noFill/>
                </a:ln>
              </p:spPr>
            </p:sp>
            <p:sp>
              <p:nvSpPr>
                <p:cNvPr id="22" name="Freeform 22"/>
                <p:cNvSpPr/>
                <p:nvPr/>
              </p:nvSpPr>
              <p:spPr>
                <a:xfrm>
                  <a:off x="1133207" y="3086100"/>
                  <a:ext cx="29112" cy="190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112" h="19050">
                      <a:moveTo>
                        <a:pt x="19318" y="0"/>
                      </a:moveTo>
                      <a:cubicBezTo>
                        <a:pt x="24358" y="6"/>
                        <a:pt x="28521" y="3936"/>
                        <a:pt x="28816" y="8967"/>
                      </a:cubicBezTo>
                      <a:cubicBezTo>
                        <a:pt x="29112" y="13998"/>
                        <a:pt x="25437" y="18388"/>
                        <a:pt x="20433" y="18983"/>
                      </a:cubicBezTo>
                      <a:lnTo>
                        <a:pt x="19318" y="19050"/>
                      </a:lnTo>
                      <a:lnTo>
                        <a:pt x="9793" y="19050"/>
                      </a:lnTo>
                      <a:cubicBezTo>
                        <a:pt x="4754" y="19044"/>
                        <a:pt x="591" y="15114"/>
                        <a:pt x="295" y="10083"/>
                      </a:cubicBezTo>
                      <a:cubicBezTo>
                        <a:pt x="0" y="5052"/>
                        <a:pt x="3675" y="662"/>
                        <a:pt x="8679" y="67"/>
                      </a:cubicBezTo>
                      <a:lnTo>
                        <a:pt x="9793" y="0"/>
                      </a:lnTo>
                      <a:lnTo>
                        <a:pt x="19318" y="0"/>
                      </a:lnTo>
                      <a:close/>
                    </a:path>
                  </a:pathLst>
                </a:custGeom>
                <a:solidFill>
                  <a:srgbClr val="38A169"/>
                </a:solidFill>
                <a:ln>
                  <a:noFill/>
                </a:ln>
              </p:spPr>
            </p:sp>
            <p:sp>
              <p:nvSpPr>
                <p:cNvPr id="23" name="Freeform 23"/>
                <p:cNvSpPr/>
                <p:nvPr/>
              </p:nvSpPr>
              <p:spPr>
                <a:xfrm>
                  <a:off x="995387" y="3024199"/>
                  <a:ext cx="27574" cy="277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74" h="27730">
                      <a:moveTo>
                        <a:pt x="3718" y="3732"/>
                      </a:moveTo>
                      <a:cubicBezTo>
                        <a:pt x="7112" y="339"/>
                        <a:pt x="12500" y="0"/>
                        <a:pt x="16291" y="2941"/>
                      </a:cubicBezTo>
                      <a:lnTo>
                        <a:pt x="17187" y="3732"/>
                      </a:lnTo>
                      <a:lnTo>
                        <a:pt x="23854" y="10399"/>
                      </a:lnTo>
                      <a:cubicBezTo>
                        <a:pt x="27400" y="13957"/>
                        <a:pt x="27574" y="19656"/>
                        <a:pt x="24252" y="23423"/>
                      </a:cubicBezTo>
                      <a:cubicBezTo>
                        <a:pt x="20930" y="27190"/>
                        <a:pt x="15254" y="27730"/>
                        <a:pt x="11281" y="24658"/>
                      </a:cubicBezTo>
                      <a:lnTo>
                        <a:pt x="10386" y="23868"/>
                      </a:lnTo>
                      <a:lnTo>
                        <a:pt x="3718" y="17200"/>
                      </a:lnTo>
                      <a:cubicBezTo>
                        <a:pt x="0" y="13481"/>
                        <a:pt x="0" y="7451"/>
                        <a:pt x="3718" y="3732"/>
                      </a:cubicBezTo>
                      <a:close/>
                    </a:path>
                  </a:pathLst>
                </a:custGeom>
                <a:solidFill>
                  <a:srgbClr val="38A169"/>
                </a:solidFill>
                <a:ln>
                  <a:noFill/>
                </a:ln>
              </p:spPr>
            </p:sp>
            <p:sp>
              <p:nvSpPr>
                <p:cNvPr id="24" name="Freeform 24"/>
                <p:cNvSpPr/>
                <p:nvPr/>
              </p:nvSpPr>
              <p:spPr>
                <a:xfrm>
                  <a:off x="1110496" y="3024211"/>
                  <a:ext cx="27861" cy="27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861" h="27575">
                      <a:moveTo>
                        <a:pt x="10530" y="3719"/>
                      </a:moveTo>
                      <a:cubicBezTo>
                        <a:pt x="14088" y="174"/>
                        <a:pt x="19786" y="0"/>
                        <a:pt x="23554" y="3322"/>
                      </a:cubicBezTo>
                      <a:cubicBezTo>
                        <a:pt x="27321" y="6643"/>
                        <a:pt x="27861" y="12319"/>
                        <a:pt x="24789" y="16292"/>
                      </a:cubicBezTo>
                      <a:lnTo>
                        <a:pt x="23999" y="17188"/>
                      </a:lnTo>
                      <a:lnTo>
                        <a:pt x="17331" y="23855"/>
                      </a:lnTo>
                      <a:cubicBezTo>
                        <a:pt x="13774" y="27400"/>
                        <a:pt x="8075" y="27575"/>
                        <a:pt x="4308" y="24253"/>
                      </a:cubicBezTo>
                      <a:cubicBezTo>
                        <a:pt x="541" y="20931"/>
                        <a:pt x="0" y="15255"/>
                        <a:pt x="3072" y="11282"/>
                      </a:cubicBezTo>
                      <a:lnTo>
                        <a:pt x="3863" y="10387"/>
                      </a:lnTo>
                      <a:lnTo>
                        <a:pt x="10530" y="3719"/>
                      </a:lnTo>
                      <a:close/>
                    </a:path>
                  </a:pathLst>
                </a:custGeom>
                <a:solidFill>
                  <a:srgbClr val="38A169"/>
                </a:solidFill>
                <a:ln>
                  <a:noFill/>
                </a:ln>
              </p:spPr>
            </p:sp>
            <p:sp>
              <p:nvSpPr>
                <p:cNvPr id="25" name="Freeform 25"/>
                <p:cNvSpPr/>
                <p:nvPr/>
              </p:nvSpPr>
              <p:spPr>
                <a:xfrm>
                  <a:off x="1038225" y="3152775"/>
                  <a:ext cx="57150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38100">
                      <a:moveTo>
                        <a:pt x="47625" y="0"/>
                      </a:moveTo>
                      <a:cubicBezTo>
                        <a:pt x="52886" y="0"/>
                        <a:pt x="57150" y="4264"/>
                        <a:pt x="57150" y="9525"/>
                      </a:cubicBezTo>
                      <a:cubicBezTo>
                        <a:pt x="57150" y="25307"/>
                        <a:pt x="44357" y="38100"/>
                        <a:pt x="28575" y="38100"/>
                      </a:cubicBezTo>
                      <a:cubicBezTo>
                        <a:pt x="12793" y="38100"/>
                        <a:pt x="0" y="25307"/>
                        <a:pt x="0" y="9525"/>
                      </a:cubicBezTo>
                      <a:cubicBezTo>
                        <a:pt x="1" y="4696"/>
                        <a:pt x="3615" y="632"/>
                        <a:pt x="8411" y="67"/>
                      </a:cubicBezTo>
                      <a:lnTo>
                        <a:pt x="9525" y="0"/>
                      </a:lnTo>
                      <a:lnTo>
                        <a:pt x="47625" y="0"/>
                      </a:lnTo>
                      <a:close/>
                    </a:path>
                  </a:pathLst>
                </a:custGeom>
                <a:solidFill>
                  <a:srgbClr val="38A169"/>
                </a:solidFill>
                <a:ln>
                  <a:noFill/>
                </a:ln>
              </p:spPr>
            </p:sp>
            <p:sp>
              <p:nvSpPr>
                <p:cNvPr id="26" name="Freeform 26"/>
                <p:cNvSpPr/>
                <p:nvPr/>
              </p:nvSpPr>
              <p:spPr>
                <a:xfrm>
                  <a:off x="1004804" y="3038475"/>
                  <a:ext cx="123992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992" h="104775">
                      <a:moveTo>
                        <a:pt x="61996" y="0"/>
                      </a:moveTo>
                      <a:cubicBezTo>
                        <a:pt x="86595" y="0"/>
                        <a:pt x="108435" y="15741"/>
                        <a:pt x="116213" y="39078"/>
                      </a:cubicBezTo>
                      <a:cubicBezTo>
                        <a:pt x="123992" y="62414"/>
                        <a:pt x="115965" y="88111"/>
                        <a:pt x="96286" y="102870"/>
                      </a:cubicBezTo>
                      <a:cubicBezTo>
                        <a:pt x="94973" y="103856"/>
                        <a:pt x="93428" y="104486"/>
                        <a:pt x="91800" y="104699"/>
                      </a:cubicBezTo>
                      <a:lnTo>
                        <a:pt x="90571" y="104775"/>
                      </a:lnTo>
                      <a:lnTo>
                        <a:pt x="33421" y="104775"/>
                      </a:lnTo>
                      <a:cubicBezTo>
                        <a:pt x="31360" y="104775"/>
                        <a:pt x="29355" y="104107"/>
                        <a:pt x="27706" y="102870"/>
                      </a:cubicBezTo>
                      <a:cubicBezTo>
                        <a:pt x="8027" y="88111"/>
                        <a:pt x="0" y="62414"/>
                        <a:pt x="7779" y="39078"/>
                      </a:cubicBezTo>
                      <a:cubicBezTo>
                        <a:pt x="15558" y="15741"/>
                        <a:pt x="37397" y="0"/>
                        <a:pt x="61996" y="0"/>
                      </a:cubicBezTo>
                      <a:close/>
                    </a:path>
                  </a:pathLst>
                </a:custGeom>
                <a:solidFill>
                  <a:srgbClr val="38A169"/>
                </a:solidFill>
                <a:ln>
                  <a:noFill/>
                </a:ln>
              </p:spPr>
            </p:sp>
          </p:grpSp>
          <p:sp>
            <p:nvSpPr>
              <p:cNvPr id="28" name="TextBox 28"/>
              <p:cNvSpPr txBox="1"/>
              <p:nvPr/>
            </p:nvSpPr>
            <p:spPr>
              <a:xfrm>
                <a:off x="1272540" y="2953702"/>
                <a:ext cx="149685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38A169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三层记忆增强伴学系统</a:t>
                </a:r>
                <a:endParaRPr lang="zh-CN" sz="1050" b="1" dirty="0">
                  <a:solidFill>
                    <a:srgbClr val="38A169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274445" y="3122295"/>
                <a:ext cx="108499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记忆连贯性提升43%</a:t>
                </a:r>
                <a:endPara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857250" y="3381375"/>
              <a:ext cx="4762500" cy="400050"/>
              <a:chOff x="857250" y="3381375"/>
              <a:chExt cx="4762500" cy="40005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857250" y="3381375"/>
                <a:ext cx="4762500" cy="381000"/>
              </a:xfrm>
              <a:prstGeom prst="roundRect">
                <a:avLst>
                  <a:gd name="adj" fmla="val 20000"/>
                </a:avLst>
              </a:prstGeom>
              <a:solidFill>
                <a:srgbClr val="E53E3E">
                  <a:alpha val="8000"/>
                </a:srgbClr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967237" y="3476625"/>
                <a:ext cx="199117" cy="190602"/>
              </a:xfrm>
              <a:custGeom>
                <a:avLst/>
                <a:gdLst/>
                <a:ahLst/>
                <a:cxnLst/>
                <a:rect l="l" t="t" r="r" b="b"/>
                <a:pathLst>
                  <a:path w="199117" h="190602">
                    <a:moveTo>
                      <a:pt x="98458" y="67"/>
                    </a:moveTo>
                    <a:lnTo>
                      <a:pt x="99544" y="0"/>
                    </a:lnTo>
                    <a:lnTo>
                      <a:pt x="100668" y="67"/>
                    </a:lnTo>
                    <a:lnTo>
                      <a:pt x="101230" y="143"/>
                    </a:lnTo>
                    <a:lnTo>
                      <a:pt x="101811" y="267"/>
                    </a:lnTo>
                    <a:lnTo>
                      <a:pt x="102868" y="591"/>
                    </a:lnTo>
                    <a:cubicBezTo>
                      <a:pt x="103598" y="860"/>
                      <a:pt x="104293" y="1218"/>
                      <a:pt x="104935" y="1657"/>
                    </a:cubicBezTo>
                    <a:lnTo>
                      <a:pt x="105926" y="2438"/>
                    </a:lnTo>
                    <a:lnTo>
                      <a:pt x="108354" y="4515"/>
                    </a:lnTo>
                    <a:cubicBezTo>
                      <a:pt x="127569" y="20475"/>
                      <a:pt x="151854" y="29045"/>
                      <a:pt x="176830" y="28680"/>
                    </a:cubicBezTo>
                    <a:lnTo>
                      <a:pt x="180087" y="28585"/>
                    </a:lnTo>
                    <a:cubicBezTo>
                      <a:pt x="184470" y="28385"/>
                      <a:pt x="188423" y="31204"/>
                      <a:pt x="189660" y="35414"/>
                    </a:cubicBezTo>
                    <a:cubicBezTo>
                      <a:pt x="199117" y="67583"/>
                      <a:pt x="195123" y="102211"/>
                      <a:pt x="178593" y="131383"/>
                    </a:cubicBezTo>
                    <a:cubicBezTo>
                      <a:pt x="162063" y="160555"/>
                      <a:pt x="134409" y="181776"/>
                      <a:pt x="101954" y="190195"/>
                    </a:cubicBezTo>
                    <a:cubicBezTo>
                      <a:pt x="100386" y="190602"/>
                      <a:pt x="98740" y="190602"/>
                      <a:pt x="97172" y="190195"/>
                    </a:cubicBezTo>
                    <a:cubicBezTo>
                      <a:pt x="64715" y="181778"/>
                      <a:pt x="37059" y="160558"/>
                      <a:pt x="20527" y="131386"/>
                    </a:cubicBezTo>
                    <a:cubicBezTo>
                      <a:pt x="3994" y="102213"/>
                      <a:pt x="0" y="67584"/>
                      <a:pt x="9456" y="35414"/>
                    </a:cubicBezTo>
                    <a:cubicBezTo>
                      <a:pt x="10693" y="31204"/>
                      <a:pt x="14646" y="28385"/>
                      <a:pt x="19029" y="28585"/>
                    </a:cubicBezTo>
                    <a:cubicBezTo>
                      <a:pt x="45103" y="29776"/>
                      <a:pt x="70684" y="21193"/>
                      <a:pt x="90762" y="4515"/>
                    </a:cubicBezTo>
                    <a:lnTo>
                      <a:pt x="93267" y="2372"/>
                    </a:lnTo>
                    <a:lnTo>
                      <a:pt x="94181" y="1657"/>
                    </a:lnTo>
                    <a:cubicBezTo>
                      <a:pt x="94824" y="1218"/>
                      <a:pt x="95518" y="860"/>
                      <a:pt x="96248" y="591"/>
                    </a:cubicBezTo>
                    <a:lnTo>
                      <a:pt x="97315" y="267"/>
                    </a:lnTo>
                    <a:cubicBezTo>
                      <a:pt x="97688" y="177"/>
                      <a:pt x="98067" y="110"/>
                      <a:pt x="98448" y="67"/>
                    </a:cubicBezTo>
                    <a:close/>
                  </a:path>
                </a:pathLst>
              </a:custGeom>
              <a:solidFill>
                <a:srgbClr val="E53E3E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1272540" y="3429952"/>
                <a:ext cx="149685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E53E3E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渐进式重试与降级生成</a:t>
                </a:r>
                <a:endParaRPr lang="zh-CN" sz="1050" b="1" dirty="0">
                  <a:solidFill>
                    <a:srgbClr val="E53E3E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274445" y="3598545"/>
                <a:ext cx="86296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永不输出空数据</a:t>
                </a:r>
                <a:endParaRPr lang="zh-CN" sz="900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58" name="Group 58"/>
          <p:cNvGrpSpPr/>
          <p:nvPr/>
        </p:nvGrpSpPr>
        <p:grpSpPr>
          <a:xfrm>
            <a:off x="6286500" y="1381125"/>
            <a:ext cx="5334000" cy="2667000"/>
            <a:chOff x="6286500" y="1381125"/>
            <a:chExt cx="5334000" cy="2667000"/>
          </a:xfrm>
        </p:grpSpPr>
        <p:sp>
          <p:nvSpPr>
            <p:cNvPr id="37" name="Rectangle 37"/>
            <p:cNvSpPr/>
            <p:nvPr/>
          </p:nvSpPr>
          <p:spPr>
            <a:xfrm>
              <a:off x="6286500" y="1381125"/>
              <a:ext cx="5334000" cy="2667000"/>
            </a:xfrm>
            <a:prstGeom prst="roundRect">
              <a:avLst>
                <a:gd name="adj" fmla="val 4286"/>
              </a:avLst>
            </a:prstGeom>
            <a:solidFill>
              <a:srgbClr val="F7FAFC"/>
            </a:solidFill>
            <a:ln w="14288">
              <a:solidFill>
                <a:srgbClr val="E2E8F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55105" y="15687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365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未来方向</a:t>
              </a:r>
              <a:endParaRPr lang="zh-CN" sz="1350" b="1" dirty="0">
                <a:solidFill>
                  <a:srgbClr val="1A365D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42" name="Group 42"/>
            <p:cNvGrpSpPr/>
            <p:nvPr/>
          </p:nvGrpSpPr>
          <p:grpSpPr>
            <a:xfrm>
              <a:off x="6591299" y="1945481"/>
              <a:ext cx="2016919" cy="404813"/>
              <a:chOff x="6591299" y="1945481"/>
              <a:chExt cx="2016919" cy="404813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6591299" y="1967408"/>
                <a:ext cx="200567" cy="201349"/>
              </a:xfrm>
              <a:custGeom>
                <a:avLst/>
                <a:gdLst/>
                <a:ahLst/>
                <a:cxnLst/>
                <a:rect l="l" t="t" r="r" b="b"/>
                <a:pathLst>
                  <a:path w="200567" h="201349">
                    <a:moveTo>
                      <a:pt x="142876" y="17030"/>
                    </a:moveTo>
                    <a:cubicBezTo>
                      <a:pt x="182908" y="40142"/>
                      <a:pt x="200567" y="88661"/>
                      <a:pt x="184757" y="132097"/>
                    </a:cubicBezTo>
                    <a:cubicBezTo>
                      <a:pt x="168947" y="175534"/>
                      <a:pt x="124232" y="201349"/>
                      <a:pt x="78710" y="193322"/>
                    </a:cubicBezTo>
                    <a:cubicBezTo>
                      <a:pt x="33187" y="185294"/>
                      <a:pt x="0" y="145741"/>
                      <a:pt x="1" y="99517"/>
                    </a:cubicBezTo>
                    <a:lnTo>
                      <a:pt x="49" y="96431"/>
                    </a:lnTo>
                    <a:cubicBezTo>
                      <a:pt x="1134" y="62969"/>
                      <a:pt x="19707" y="32534"/>
                      <a:pt x="48968" y="16267"/>
                    </a:cubicBezTo>
                    <a:cubicBezTo>
                      <a:pt x="78230" y="0"/>
                      <a:pt x="113883" y="290"/>
                      <a:pt x="142876" y="17030"/>
                    </a:cubicBezTo>
                    <a:moveTo>
                      <a:pt x="82935" y="73732"/>
                    </a:moveTo>
                    <a:cubicBezTo>
                      <a:pt x="79216" y="70014"/>
                      <a:pt x="73187" y="70014"/>
                      <a:pt x="69467" y="73732"/>
                    </a:cubicBezTo>
                    <a:lnTo>
                      <a:pt x="50417" y="92782"/>
                    </a:lnTo>
                    <a:cubicBezTo>
                      <a:pt x="46699" y="96502"/>
                      <a:pt x="46699" y="102531"/>
                      <a:pt x="50417" y="106251"/>
                    </a:cubicBezTo>
                    <a:lnTo>
                      <a:pt x="69467" y="125301"/>
                    </a:lnTo>
                    <a:cubicBezTo>
                      <a:pt x="73187" y="129019"/>
                      <a:pt x="79216" y="129019"/>
                      <a:pt x="82935" y="125301"/>
                    </a:cubicBezTo>
                    <a:lnTo>
                      <a:pt x="83726" y="124405"/>
                    </a:lnTo>
                    <a:cubicBezTo>
                      <a:pt x="86667" y="120614"/>
                      <a:pt x="86328" y="115226"/>
                      <a:pt x="82935" y="111832"/>
                    </a:cubicBezTo>
                    <a:lnTo>
                      <a:pt x="70629" y="99517"/>
                    </a:lnTo>
                    <a:lnTo>
                      <a:pt x="82935" y="87201"/>
                    </a:lnTo>
                    <a:cubicBezTo>
                      <a:pt x="86654" y="83481"/>
                      <a:pt x="86654" y="77452"/>
                      <a:pt x="82935" y="73732"/>
                    </a:cubicBezTo>
                    <a:moveTo>
                      <a:pt x="121035" y="73732"/>
                    </a:moveTo>
                    <a:cubicBezTo>
                      <a:pt x="117316" y="70014"/>
                      <a:pt x="111287" y="70014"/>
                      <a:pt x="107567" y="73732"/>
                    </a:cubicBezTo>
                    <a:lnTo>
                      <a:pt x="106776" y="74628"/>
                    </a:lnTo>
                    <a:cubicBezTo>
                      <a:pt x="103835" y="78420"/>
                      <a:pt x="104174" y="83807"/>
                      <a:pt x="107567" y="87201"/>
                    </a:cubicBezTo>
                    <a:lnTo>
                      <a:pt x="119873" y="99517"/>
                    </a:lnTo>
                    <a:lnTo>
                      <a:pt x="107567" y="111832"/>
                    </a:lnTo>
                    <a:cubicBezTo>
                      <a:pt x="103957" y="115570"/>
                      <a:pt x="104009" y="121511"/>
                      <a:pt x="107683" y="125185"/>
                    </a:cubicBezTo>
                    <a:cubicBezTo>
                      <a:pt x="111357" y="128859"/>
                      <a:pt x="117298" y="128911"/>
                      <a:pt x="121035" y="125301"/>
                    </a:cubicBezTo>
                    <a:lnTo>
                      <a:pt x="140085" y="106251"/>
                    </a:lnTo>
                    <a:cubicBezTo>
                      <a:pt x="143804" y="102531"/>
                      <a:pt x="143804" y="96502"/>
                      <a:pt x="140085" y="92782"/>
                    </a:cubicBezTo>
                    <a:close/>
                  </a:path>
                </a:pathLst>
              </a:custGeom>
              <a:solidFill>
                <a:srgbClr val="2B6CB0"/>
              </a:solidFill>
              <a:ln>
                <a:noFill/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891338" y="1945481"/>
                <a:ext cx="603522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D37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RAG增强</a:t>
                </a:r>
                <a:endParaRPr lang="zh-CN" sz="1125" b="1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893242" y="2152174"/>
                <a:ext cx="171497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引用真实技术文档和开源项目</a:t>
                </a:r>
                <a:endParaRPr lang="zh-CN" sz="97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6591299" y="2421731"/>
              <a:ext cx="1756887" cy="404813"/>
              <a:chOff x="6591299" y="2421731"/>
              <a:chExt cx="1756887" cy="404813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6591299" y="2443658"/>
                <a:ext cx="200567" cy="201349"/>
              </a:xfrm>
              <a:custGeom>
                <a:avLst/>
                <a:gdLst/>
                <a:ahLst/>
                <a:cxnLst/>
                <a:rect l="l" t="t" r="r" b="b"/>
                <a:pathLst>
                  <a:path w="200567" h="201349">
                    <a:moveTo>
                      <a:pt x="142876" y="17030"/>
                    </a:moveTo>
                    <a:cubicBezTo>
                      <a:pt x="182908" y="40142"/>
                      <a:pt x="200567" y="88661"/>
                      <a:pt x="184757" y="132097"/>
                    </a:cubicBezTo>
                    <a:cubicBezTo>
                      <a:pt x="168947" y="175534"/>
                      <a:pt x="124232" y="201349"/>
                      <a:pt x="78710" y="193322"/>
                    </a:cubicBezTo>
                    <a:cubicBezTo>
                      <a:pt x="33187" y="185294"/>
                      <a:pt x="0" y="145741"/>
                      <a:pt x="1" y="99517"/>
                    </a:cubicBezTo>
                    <a:lnTo>
                      <a:pt x="49" y="96431"/>
                    </a:lnTo>
                    <a:cubicBezTo>
                      <a:pt x="1134" y="62969"/>
                      <a:pt x="19707" y="32534"/>
                      <a:pt x="48968" y="16267"/>
                    </a:cubicBezTo>
                    <a:cubicBezTo>
                      <a:pt x="78230" y="0"/>
                      <a:pt x="113883" y="290"/>
                      <a:pt x="142876" y="17030"/>
                    </a:cubicBezTo>
                    <a:moveTo>
                      <a:pt x="82935" y="73732"/>
                    </a:moveTo>
                    <a:cubicBezTo>
                      <a:pt x="79216" y="70014"/>
                      <a:pt x="73187" y="70014"/>
                      <a:pt x="69467" y="73732"/>
                    </a:cubicBezTo>
                    <a:lnTo>
                      <a:pt x="50417" y="92782"/>
                    </a:lnTo>
                    <a:cubicBezTo>
                      <a:pt x="46699" y="96502"/>
                      <a:pt x="46699" y="102531"/>
                      <a:pt x="50417" y="106251"/>
                    </a:cubicBezTo>
                    <a:lnTo>
                      <a:pt x="69467" y="125301"/>
                    </a:lnTo>
                    <a:cubicBezTo>
                      <a:pt x="73187" y="129019"/>
                      <a:pt x="79216" y="129019"/>
                      <a:pt x="82935" y="125301"/>
                    </a:cubicBezTo>
                    <a:lnTo>
                      <a:pt x="83726" y="124405"/>
                    </a:lnTo>
                    <a:cubicBezTo>
                      <a:pt x="86667" y="120614"/>
                      <a:pt x="86328" y="115226"/>
                      <a:pt x="82935" y="111832"/>
                    </a:cubicBezTo>
                    <a:lnTo>
                      <a:pt x="70629" y="99517"/>
                    </a:lnTo>
                    <a:lnTo>
                      <a:pt x="82935" y="87201"/>
                    </a:lnTo>
                    <a:cubicBezTo>
                      <a:pt x="86654" y="83481"/>
                      <a:pt x="86654" y="77452"/>
                      <a:pt x="82935" y="73732"/>
                    </a:cubicBezTo>
                    <a:moveTo>
                      <a:pt x="121035" y="73732"/>
                    </a:moveTo>
                    <a:cubicBezTo>
                      <a:pt x="117316" y="70014"/>
                      <a:pt x="111287" y="70014"/>
                      <a:pt x="107567" y="73732"/>
                    </a:cubicBezTo>
                    <a:lnTo>
                      <a:pt x="106776" y="74628"/>
                    </a:lnTo>
                    <a:cubicBezTo>
                      <a:pt x="103835" y="78420"/>
                      <a:pt x="104174" y="83807"/>
                      <a:pt x="107567" y="87201"/>
                    </a:cubicBezTo>
                    <a:lnTo>
                      <a:pt x="119873" y="99517"/>
                    </a:lnTo>
                    <a:lnTo>
                      <a:pt x="107567" y="111832"/>
                    </a:lnTo>
                    <a:cubicBezTo>
                      <a:pt x="103957" y="115570"/>
                      <a:pt x="104009" y="121511"/>
                      <a:pt x="107683" y="125185"/>
                    </a:cubicBezTo>
                    <a:cubicBezTo>
                      <a:pt x="111357" y="128859"/>
                      <a:pt x="117298" y="128911"/>
                      <a:pt x="121035" y="125301"/>
                    </a:cubicBezTo>
                    <a:lnTo>
                      <a:pt x="140085" y="106251"/>
                    </a:lnTo>
                    <a:cubicBezTo>
                      <a:pt x="143804" y="102531"/>
                      <a:pt x="143804" y="96502"/>
                      <a:pt x="140085" y="92782"/>
                    </a:cubicBezTo>
                    <a:close/>
                  </a:path>
                </a:pathLst>
              </a:custGeom>
              <a:solidFill>
                <a:srgbClr val="D4AF37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891338" y="2421731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D37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多模态支持</a:t>
                </a:r>
                <a:endParaRPr lang="zh-CN" sz="1125" b="1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893242" y="2628424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视频讲解、代码运行演示</a:t>
                </a:r>
                <a:endParaRPr lang="zh-CN" sz="97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6600824" y="2897981"/>
              <a:ext cx="1337811" cy="404813"/>
              <a:chOff x="6600824" y="2897981"/>
              <a:chExt cx="1337811" cy="404813"/>
            </a:xfrm>
          </p:grpSpPr>
          <p:grpSp>
            <p:nvGrpSpPr>
              <p:cNvPr id="50" name="Group 50"/>
              <p:cNvGrpSpPr/>
              <p:nvPr/>
            </p:nvGrpSpPr>
            <p:grpSpPr>
              <a:xfrm>
                <a:off x="6600824" y="2924175"/>
                <a:ext cx="171451" cy="190500"/>
                <a:chOff x="6600824" y="2924175"/>
                <a:chExt cx="171451" cy="190500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6600825" y="3054963"/>
                  <a:ext cx="171450" cy="597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59712">
                      <a:moveTo>
                        <a:pt x="0" y="0"/>
                      </a:moveTo>
                      <a:cubicBezTo>
                        <a:pt x="18745" y="14354"/>
                        <a:pt x="49854" y="21612"/>
                        <a:pt x="85725" y="21612"/>
                      </a:cubicBezTo>
                      <a:cubicBezTo>
                        <a:pt x="121539" y="21612"/>
                        <a:pt x="152638" y="14373"/>
                        <a:pt x="171450" y="162"/>
                      </a:cubicBezTo>
                      <a:lnTo>
                        <a:pt x="171450" y="21612"/>
                      </a:lnTo>
                      <a:cubicBezTo>
                        <a:pt x="171450" y="44710"/>
                        <a:pt x="134350" y="59103"/>
                        <a:pt x="88649" y="59693"/>
                      </a:cubicBezTo>
                      <a:lnTo>
                        <a:pt x="85725" y="59712"/>
                      </a:lnTo>
                      <a:cubicBezTo>
                        <a:pt x="38691" y="59712"/>
                        <a:pt x="0" y="45206"/>
                        <a:pt x="0" y="21612"/>
                      </a:cubicBezTo>
                      <a:close/>
                    </a:path>
                  </a:pathLst>
                </a:custGeom>
                <a:solidFill>
                  <a:srgbClr val="38A169"/>
                </a:solidFill>
                <a:ln>
                  <a:noFill/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6600825" y="2997813"/>
                  <a:ext cx="171450" cy="597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59712">
                      <a:moveTo>
                        <a:pt x="0" y="0"/>
                      </a:moveTo>
                      <a:cubicBezTo>
                        <a:pt x="18745" y="14354"/>
                        <a:pt x="49854" y="21612"/>
                        <a:pt x="85725" y="21612"/>
                      </a:cubicBezTo>
                      <a:cubicBezTo>
                        <a:pt x="121539" y="21612"/>
                        <a:pt x="152638" y="14373"/>
                        <a:pt x="171450" y="162"/>
                      </a:cubicBezTo>
                      <a:lnTo>
                        <a:pt x="171450" y="21612"/>
                      </a:lnTo>
                      <a:cubicBezTo>
                        <a:pt x="171450" y="45206"/>
                        <a:pt x="132759" y="59712"/>
                        <a:pt x="85725" y="59712"/>
                      </a:cubicBezTo>
                      <a:cubicBezTo>
                        <a:pt x="40024" y="59712"/>
                        <a:pt x="2191" y="46015"/>
                        <a:pt x="200" y="23565"/>
                      </a:cubicBezTo>
                      <a:lnTo>
                        <a:pt x="48" y="22603"/>
                      </a:lnTo>
                      <a:lnTo>
                        <a:pt x="0" y="21612"/>
                      </a:lnTo>
                      <a:close/>
                    </a:path>
                  </a:pathLst>
                </a:custGeom>
                <a:solidFill>
                  <a:srgbClr val="38A169"/>
                </a:solidFill>
                <a:ln>
                  <a:noFill/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6600824" y="2924175"/>
                  <a:ext cx="171451" cy="762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1" h="76200">
                      <a:moveTo>
                        <a:pt x="85726" y="0"/>
                      </a:moveTo>
                      <a:cubicBezTo>
                        <a:pt x="95641" y="0"/>
                        <a:pt x="105195" y="648"/>
                        <a:pt x="114082" y="1886"/>
                      </a:cubicBezTo>
                      <a:lnTo>
                        <a:pt x="118549" y="2562"/>
                      </a:lnTo>
                      <a:cubicBezTo>
                        <a:pt x="123883" y="3451"/>
                        <a:pt x="128918" y="4556"/>
                        <a:pt x="133656" y="5877"/>
                      </a:cubicBezTo>
                      <a:lnTo>
                        <a:pt x="137847" y="7125"/>
                      </a:lnTo>
                      <a:lnTo>
                        <a:pt x="138561" y="7353"/>
                      </a:lnTo>
                      <a:cubicBezTo>
                        <a:pt x="141153" y="8206"/>
                        <a:pt x="143711" y="9159"/>
                        <a:pt x="146229" y="10211"/>
                      </a:cubicBezTo>
                      <a:lnTo>
                        <a:pt x="148124" y="11030"/>
                      </a:lnTo>
                      <a:cubicBezTo>
                        <a:pt x="151521" y="12567"/>
                        <a:pt x="154591" y="14249"/>
                        <a:pt x="157335" y="16078"/>
                      </a:cubicBezTo>
                      <a:cubicBezTo>
                        <a:pt x="158382" y="16777"/>
                        <a:pt x="159376" y="17491"/>
                        <a:pt x="160316" y="18221"/>
                      </a:cubicBezTo>
                      <a:cubicBezTo>
                        <a:pt x="162697" y="20069"/>
                        <a:pt x="164837" y="22206"/>
                        <a:pt x="166688" y="24584"/>
                      </a:cubicBezTo>
                      <a:lnTo>
                        <a:pt x="167555" y="25803"/>
                      </a:lnTo>
                      <a:cubicBezTo>
                        <a:pt x="168000" y="26470"/>
                        <a:pt x="168409" y="27140"/>
                        <a:pt x="168784" y="27813"/>
                      </a:cubicBezTo>
                      <a:lnTo>
                        <a:pt x="169450" y="29137"/>
                      </a:lnTo>
                      <a:cubicBezTo>
                        <a:pt x="170486" y="31359"/>
                        <a:pt x="171121" y="33677"/>
                        <a:pt x="171355" y="36090"/>
                      </a:cubicBezTo>
                      <a:lnTo>
                        <a:pt x="171451" y="38100"/>
                      </a:lnTo>
                      <a:cubicBezTo>
                        <a:pt x="171451" y="61693"/>
                        <a:pt x="132760" y="76200"/>
                        <a:pt x="85726" y="76200"/>
                      </a:cubicBezTo>
                      <a:cubicBezTo>
                        <a:pt x="40025" y="76200"/>
                        <a:pt x="2191" y="62503"/>
                        <a:pt x="201" y="40053"/>
                      </a:cubicBezTo>
                      <a:cubicBezTo>
                        <a:pt x="67" y="39410"/>
                        <a:pt x="0" y="38756"/>
                        <a:pt x="1" y="38100"/>
                      </a:cubicBezTo>
                      <a:lnTo>
                        <a:pt x="48" y="37109"/>
                      </a:lnTo>
                      <a:lnTo>
                        <a:pt x="201" y="36157"/>
                      </a:lnTo>
                      <a:cubicBezTo>
                        <a:pt x="2153" y="14192"/>
                        <a:pt x="38396" y="600"/>
                        <a:pt x="82754" y="19"/>
                      </a:cubicBezTo>
                      <a:close/>
                    </a:path>
                  </a:pathLst>
                </a:custGeom>
                <a:solidFill>
                  <a:srgbClr val="38A169"/>
                </a:solidFill>
                <a:ln>
                  <a:noFill/>
                </a:ln>
              </p:spPr>
            </p:sp>
          </p:grpSp>
          <p:sp>
            <p:nvSpPr>
              <p:cNvPr id="51" name="TextBox 51"/>
              <p:cNvSpPr txBox="1"/>
              <p:nvPr/>
            </p:nvSpPr>
            <p:spPr>
              <a:xfrm>
                <a:off x="6891338" y="2897981"/>
                <a:ext cx="81617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D37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本地化部署</a:t>
                </a:r>
                <a:endParaRPr lang="zh-CN" sz="1125" b="1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6893242" y="3104674"/>
                <a:ext cx="104539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降低LLM调用成本</a:t>
                </a:r>
                <a:endParaRPr lang="zh-CN" sz="97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6609919" y="3374231"/>
              <a:ext cx="1588748" cy="404813"/>
              <a:chOff x="6609919" y="3374231"/>
              <a:chExt cx="1588748" cy="404813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6609919" y="3400425"/>
                <a:ext cx="153263" cy="194034"/>
              </a:xfrm>
              <a:custGeom>
                <a:avLst/>
                <a:gdLst/>
                <a:ahLst/>
                <a:cxnLst/>
                <a:rect l="l" t="t" r="r" b="b"/>
                <a:pathLst>
                  <a:path w="153263" h="194034">
                    <a:moveTo>
                      <a:pt x="86156" y="0"/>
                    </a:moveTo>
                    <a:lnTo>
                      <a:pt x="86328" y="10"/>
                    </a:lnTo>
                    <a:lnTo>
                      <a:pt x="86480" y="19"/>
                    </a:lnTo>
                    <a:lnTo>
                      <a:pt x="87271" y="67"/>
                    </a:lnTo>
                    <a:lnTo>
                      <a:pt x="87375" y="86"/>
                    </a:lnTo>
                    <a:lnTo>
                      <a:pt x="87480" y="86"/>
                    </a:lnTo>
                    <a:lnTo>
                      <a:pt x="87842" y="171"/>
                    </a:lnTo>
                    <a:lnTo>
                      <a:pt x="88337" y="248"/>
                    </a:lnTo>
                    <a:lnTo>
                      <a:pt x="88490" y="305"/>
                    </a:lnTo>
                    <a:lnTo>
                      <a:pt x="88595" y="314"/>
                    </a:lnTo>
                    <a:lnTo>
                      <a:pt x="88871" y="419"/>
                    </a:lnTo>
                    <a:lnTo>
                      <a:pt x="89366" y="552"/>
                    </a:lnTo>
                    <a:lnTo>
                      <a:pt x="89547" y="638"/>
                    </a:lnTo>
                    <a:lnTo>
                      <a:pt x="89690" y="676"/>
                    </a:lnTo>
                    <a:lnTo>
                      <a:pt x="89957" y="810"/>
                    </a:lnTo>
                    <a:lnTo>
                      <a:pt x="90338" y="972"/>
                    </a:lnTo>
                    <a:lnTo>
                      <a:pt x="90538" y="1086"/>
                    </a:lnTo>
                    <a:lnTo>
                      <a:pt x="90747" y="1181"/>
                    </a:lnTo>
                    <a:lnTo>
                      <a:pt x="90966" y="1324"/>
                    </a:lnTo>
                    <a:lnTo>
                      <a:pt x="91262" y="1486"/>
                    </a:lnTo>
                    <a:lnTo>
                      <a:pt x="91586" y="1715"/>
                    </a:lnTo>
                    <a:lnTo>
                      <a:pt x="91757" y="1819"/>
                    </a:lnTo>
                    <a:lnTo>
                      <a:pt x="91881" y="1934"/>
                    </a:lnTo>
                    <a:lnTo>
                      <a:pt x="92109" y="2095"/>
                    </a:lnTo>
                    <a:lnTo>
                      <a:pt x="92471" y="2419"/>
                    </a:lnTo>
                    <a:lnTo>
                      <a:pt x="92681" y="2581"/>
                    </a:lnTo>
                    <a:lnTo>
                      <a:pt x="92757" y="2677"/>
                    </a:lnTo>
                    <a:lnTo>
                      <a:pt x="92890" y="2791"/>
                    </a:lnTo>
                    <a:lnTo>
                      <a:pt x="93233" y="3181"/>
                    </a:lnTo>
                    <a:lnTo>
                      <a:pt x="93481" y="3439"/>
                    </a:lnTo>
                    <a:lnTo>
                      <a:pt x="93538" y="3524"/>
                    </a:lnTo>
                    <a:cubicBezTo>
                      <a:pt x="94681" y="4924"/>
                      <a:pt x="95405" y="6591"/>
                      <a:pt x="95615" y="8411"/>
                    </a:cubicBezTo>
                    <a:lnTo>
                      <a:pt x="95624" y="8525"/>
                    </a:lnTo>
                    <a:lnTo>
                      <a:pt x="95643" y="8915"/>
                    </a:lnTo>
                    <a:lnTo>
                      <a:pt x="95681" y="9525"/>
                    </a:lnTo>
                    <a:lnTo>
                      <a:pt x="95681" y="66675"/>
                    </a:lnTo>
                    <a:lnTo>
                      <a:pt x="143306" y="66675"/>
                    </a:lnTo>
                    <a:cubicBezTo>
                      <a:pt x="146704" y="66674"/>
                      <a:pt x="149844" y="68483"/>
                      <a:pt x="151549" y="71422"/>
                    </a:cubicBezTo>
                    <a:cubicBezTo>
                      <a:pt x="153253" y="74361"/>
                      <a:pt x="153263" y="77986"/>
                      <a:pt x="151574" y="80934"/>
                    </a:cubicBezTo>
                    <a:lnTo>
                      <a:pt x="151002" y="81801"/>
                    </a:lnTo>
                    <a:lnTo>
                      <a:pt x="74802" y="186576"/>
                    </a:lnTo>
                    <a:cubicBezTo>
                      <a:pt x="69392" y="194034"/>
                      <a:pt x="57581" y="190195"/>
                      <a:pt x="57581" y="180975"/>
                    </a:cubicBezTo>
                    <a:lnTo>
                      <a:pt x="57581" y="123825"/>
                    </a:lnTo>
                    <a:lnTo>
                      <a:pt x="9956" y="123825"/>
                    </a:lnTo>
                    <a:cubicBezTo>
                      <a:pt x="6559" y="123826"/>
                      <a:pt x="3418" y="122017"/>
                      <a:pt x="1714" y="119078"/>
                    </a:cubicBezTo>
                    <a:cubicBezTo>
                      <a:pt x="10" y="116139"/>
                      <a:pt x="0" y="112514"/>
                      <a:pt x="1689" y="109566"/>
                    </a:cubicBezTo>
                    <a:lnTo>
                      <a:pt x="2260" y="108699"/>
                    </a:lnTo>
                    <a:lnTo>
                      <a:pt x="78460" y="3924"/>
                    </a:lnTo>
                    <a:lnTo>
                      <a:pt x="78555" y="3800"/>
                    </a:lnTo>
                    <a:lnTo>
                      <a:pt x="78727" y="3572"/>
                    </a:lnTo>
                    <a:lnTo>
                      <a:pt x="79041" y="3210"/>
                    </a:lnTo>
                    <a:lnTo>
                      <a:pt x="79213" y="3000"/>
                    </a:lnTo>
                    <a:lnTo>
                      <a:pt x="79298" y="2924"/>
                    </a:lnTo>
                    <a:lnTo>
                      <a:pt x="79422" y="2791"/>
                    </a:lnTo>
                    <a:lnTo>
                      <a:pt x="79803" y="2448"/>
                    </a:lnTo>
                    <a:lnTo>
                      <a:pt x="80070" y="2200"/>
                    </a:lnTo>
                    <a:lnTo>
                      <a:pt x="80146" y="2143"/>
                    </a:lnTo>
                    <a:cubicBezTo>
                      <a:pt x="81262" y="1229"/>
                      <a:pt x="82572" y="581"/>
                      <a:pt x="83975" y="248"/>
                    </a:cubicBezTo>
                    <a:lnTo>
                      <a:pt x="84080" y="238"/>
                    </a:lnTo>
                    <a:lnTo>
                      <a:pt x="84337" y="190"/>
                    </a:lnTo>
                    <a:lnTo>
                      <a:pt x="85042" y="67"/>
                    </a:lnTo>
                    <a:lnTo>
                      <a:pt x="85147" y="57"/>
                    </a:lnTo>
                    <a:lnTo>
                      <a:pt x="85537" y="38"/>
                    </a:lnTo>
                    <a:close/>
                  </a:path>
                </a:pathLst>
              </a:custGeom>
              <a:solidFill>
                <a:srgbClr val="E53E3E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6891338" y="3374231"/>
                <a:ext cx="973693" cy="22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5" b="1" dirty="0">
                    <a:solidFill>
                      <a:srgbClr val="2D3748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智能辅导强化</a:t>
                </a:r>
                <a:endParaRPr lang="zh-CN" sz="1125" b="1" dirty="0">
                  <a:solidFill>
                    <a:srgbClr val="2D3748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6893242" y="3580924"/>
                <a:ext cx="1305425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18096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练习过程中AI深度介入</a:t>
                </a:r>
                <a:endParaRPr lang="zh-CN" sz="975" dirty="0">
                  <a:solidFill>
                    <a:srgbClr val="718096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sp>
        <p:nvSpPr>
          <p:cNvPr id="59" name="Rectangle 59"/>
          <p:cNvSpPr/>
          <p:nvPr/>
        </p:nvSpPr>
        <p:spPr>
          <a:xfrm>
            <a:off x="571500" y="4286250"/>
            <a:ext cx="11049000" cy="1483995"/>
          </a:xfrm>
          <a:prstGeom prst="roundRect">
            <a:avLst>
              <a:gd name="adj" fmla="val 6667"/>
            </a:avLst>
          </a:prstGeom>
          <a:solidFill>
            <a:srgbClr val="1A365D"/>
          </a:solidFill>
          <a:ln>
            <a:noFill/>
          </a:ln>
        </p:spPr>
      </p:sp>
      <p:sp>
        <p:nvSpPr>
          <p:cNvPr id="60" name="TextBox 60"/>
          <p:cNvSpPr txBox="1"/>
          <p:nvPr/>
        </p:nvSpPr>
        <p:spPr>
          <a:xfrm>
            <a:off x="5447030" y="4462780"/>
            <a:ext cx="129857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FFFFFF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系统价值总结</a:t>
            </a:r>
            <a:endParaRPr lang="zh-CN" sz="1500" b="1" dirty="0">
              <a:solidFill>
                <a:srgbClr val="FFFFFF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63" name="Group 63"/>
          <p:cNvGrpSpPr/>
          <p:nvPr/>
        </p:nvGrpSpPr>
        <p:grpSpPr>
          <a:xfrm rot="0">
            <a:off x="1831340" y="4728210"/>
            <a:ext cx="914400" cy="561340"/>
            <a:chOff x="1112520" y="4646295"/>
            <a:chExt cx="914400" cy="561499"/>
          </a:xfrm>
        </p:grpSpPr>
        <p:sp>
          <p:nvSpPr>
            <p:cNvPr id="61" name="TextBox 61"/>
            <p:cNvSpPr txBox="1"/>
            <p:nvPr/>
          </p:nvSpPr>
          <p:spPr>
            <a:xfrm>
              <a:off x="1112520" y="4646295"/>
              <a:ext cx="91440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D4AF3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3-5min</a:t>
              </a:r>
              <a:endParaRPr lang="zh-CN" sz="2400" b="1" dirty="0">
                <a:solidFill>
                  <a:srgbClr val="D4AF37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30618" y="5009674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全流程生成</a:t>
              </a:r>
              <a:endParaRPr lang="zh-CN" sz="975" dirty="0">
                <a:solidFill>
                  <a:srgbClr val="FFFFFF">
                    <a:alphaMod val="7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 rot="0">
            <a:off x="3476625" y="4728210"/>
            <a:ext cx="838200" cy="561340"/>
            <a:chOff x="2731770" y="4646295"/>
            <a:chExt cx="838200" cy="561499"/>
          </a:xfrm>
        </p:grpSpPr>
        <p:sp>
          <p:nvSpPr>
            <p:cNvPr id="64" name="TextBox 64"/>
            <p:cNvSpPr txBox="1"/>
            <p:nvPr/>
          </p:nvSpPr>
          <p:spPr>
            <a:xfrm>
              <a:off x="2731770" y="4646295"/>
              <a:ext cx="83820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D4AF3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98.5%</a:t>
              </a:r>
              <a:endParaRPr lang="zh-CN" sz="2400" b="1" dirty="0">
                <a:solidFill>
                  <a:srgbClr val="D4AF37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2749868" y="5009674"/>
              <a:ext cx="7268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JSON解析率</a:t>
              </a:r>
              <a:endParaRPr lang="zh-CN" sz="975" dirty="0">
                <a:solidFill>
                  <a:srgbClr val="FFFFFF">
                    <a:alphaMod val="7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69" name="Group 69"/>
          <p:cNvGrpSpPr/>
          <p:nvPr/>
        </p:nvGrpSpPr>
        <p:grpSpPr>
          <a:xfrm rot="0">
            <a:off x="5045710" y="4728210"/>
            <a:ext cx="692785" cy="561340"/>
            <a:chOff x="4351020" y="4646295"/>
            <a:chExt cx="692944" cy="561499"/>
          </a:xfrm>
        </p:grpSpPr>
        <p:sp>
          <p:nvSpPr>
            <p:cNvPr id="67" name="TextBox 67"/>
            <p:cNvSpPr txBox="1"/>
            <p:nvPr/>
          </p:nvSpPr>
          <p:spPr>
            <a:xfrm>
              <a:off x="4351020" y="4646295"/>
              <a:ext cx="617855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D4AF3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4.0/5</a:t>
              </a:r>
              <a:endParaRPr lang="zh-CN" sz="2400" b="1" dirty="0">
                <a:solidFill>
                  <a:srgbClr val="D4AF37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369118" y="5009674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记忆连贯性</a:t>
              </a:r>
              <a:endParaRPr lang="zh-CN" sz="975" dirty="0">
                <a:solidFill>
                  <a:srgbClr val="FFFFFF">
                    <a:alphaMod val="7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2" name="Group 72"/>
          <p:cNvGrpSpPr/>
          <p:nvPr/>
        </p:nvGrpSpPr>
        <p:grpSpPr>
          <a:xfrm rot="0">
            <a:off x="6469380" y="4767580"/>
            <a:ext cx="574040" cy="521970"/>
            <a:chOff x="5958872" y="4685898"/>
            <a:chExt cx="574326" cy="521896"/>
          </a:xfrm>
        </p:grpSpPr>
        <p:sp>
          <p:nvSpPr>
            <p:cNvPr id="70" name="TextBox 70"/>
            <p:cNvSpPr txBox="1"/>
            <p:nvPr/>
          </p:nvSpPr>
          <p:spPr>
            <a:xfrm>
              <a:off x="5958872" y="4685898"/>
              <a:ext cx="45720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D4AF3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4种</a:t>
              </a:r>
              <a:endParaRPr lang="zh-CN" sz="2400" b="1" dirty="0">
                <a:solidFill>
                  <a:srgbClr val="D4AF37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5988368" y="5009674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导出格式</a:t>
              </a:r>
              <a:endParaRPr lang="zh-CN" sz="975" dirty="0">
                <a:solidFill>
                  <a:srgbClr val="FFFFFF">
                    <a:alphaMod val="7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5" name="Group 75"/>
          <p:cNvGrpSpPr/>
          <p:nvPr/>
        </p:nvGrpSpPr>
        <p:grpSpPr>
          <a:xfrm rot="0">
            <a:off x="7774305" y="4728210"/>
            <a:ext cx="660400" cy="561340"/>
            <a:chOff x="7208520" y="4646295"/>
            <a:chExt cx="660440" cy="561499"/>
          </a:xfrm>
        </p:grpSpPr>
        <p:sp>
          <p:nvSpPr>
            <p:cNvPr id="73" name="TextBox 73"/>
            <p:cNvSpPr txBox="1"/>
            <p:nvPr/>
          </p:nvSpPr>
          <p:spPr>
            <a:xfrm>
              <a:off x="7208520" y="4646295"/>
              <a:ext cx="45720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D4AF3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6个</a:t>
              </a:r>
              <a:endParaRPr lang="zh-CN" sz="2400" b="1" dirty="0">
                <a:solidFill>
                  <a:srgbClr val="D4AF37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226618" y="5009674"/>
              <a:ext cx="64234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专业Agent</a:t>
              </a:r>
              <a:endParaRPr lang="zh-CN" sz="975" dirty="0">
                <a:solidFill>
                  <a:srgbClr val="FFFFFF">
                    <a:alphaMod val="7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grpSp>
        <p:nvGrpSpPr>
          <p:cNvPr id="78" name="Group 78"/>
          <p:cNvGrpSpPr/>
          <p:nvPr/>
        </p:nvGrpSpPr>
        <p:grpSpPr>
          <a:xfrm rot="0">
            <a:off x="9165590" y="4728210"/>
            <a:ext cx="762000" cy="561340"/>
            <a:chOff x="8446770" y="4646295"/>
            <a:chExt cx="762000" cy="561499"/>
          </a:xfrm>
        </p:grpSpPr>
        <p:sp>
          <p:nvSpPr>
            <p:cNvPr id="76" name="TextBox 76"/>
            <p:cNvSpPr txBox="1"/>
            <p:nvPr/>
          </p:nvSpPr>
          <p:spPr>
            <a:xfrm>
              <a:off x="8446770" y="4646295"/>
              <a:ext cx="76200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D4AF37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200亿</a:t>
              </a:r>
              <a:endParaRPr lang="zh-CN" sz="2400" b="1" dirty="0">
                <a:solidFill>
                  <a:srgbClr val="D4AF37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464868" y="5009674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FFFFFF">
                      <a:alphaMod val="70000"/>
                    </a:srgbClr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目标市场</a:t>
              </a:r>
              <a:endParaRPr lang="zh-CN" sz="975" dirty="0">
                <a:solidFill>
                  <a:srgbClr val="FFFFFF">
                    <a:alphaMod val="7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79" name="TextBox 79"/>
          <p:cNvSpPr txBox="1"/>
          <p:nvPr/>
        </p:nvSpPr>
        <p:spPr>
          <a:xfrm>
            <a:off x="3681095" y="5391785"/>
            <a:ext cx="492696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dirty="0">
                <a:solidFill>
                  <a:srgbClr val="FFFFFF">
                    <a:alphaMod val="80000"/>
                  </a:srgbClr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面向职业教育市场的AI驱动学练测一体化平台 · 具备良好的应用前景和商业价值</a:t>
            </a:r>
            <a:endParaRPr lang="zh-CN" sz="1050" dirty="0">
              <a:solidFill>
                <a:srgbClr val="FFFFFF">
                  <a:alphaMod val="80000"/>
                </a:srgbClr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81" name="Image 8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4122" y="6000750"/>
            <a:ext cx="1688757" cy="762000"/>
          </a:xfrm>
          <a:prstGeom prst="rect">
            <a:avLst/>
          </a:prstGeom>
        </p:spPr>
      </p:pic>
      <p:sp>
        <p:nvSpPr>
          <p:cNvPr id="82" name="TextBox 82"/>
          <p:cNvSpPr txBox="1"/>
          <p:nvPr/>
        </p:nvSpPr>
        <p:spPr>
          <a:xfrm>
            <a:off x="5883545" y="6379845"/>
            <a:ext cx="42491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dirty="0">
                <a:solidFill>
                  <a:srgbClr val="A0AEC0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11 / 12</a:t>
            </a:r>
            <a:endParaRPr lang="zh-CN" sz="900" dirty="0">
              <a:solidFill>
                <a:srgbClr val="A0AEC0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pic>
        <p:nvPicPr>
          <p:cNvPr id="2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47" y="206375"/>
            <a:ext cx="1259417" cy="476250"/>
          </a:xfrm>
          <a:prstGeom prst="rect">
            <a:avLst/>
          </a:prstGeom>
        </p:spPr>
      </p:pic>
      <p:pic>
        <p:nvPicPr>
          <p:cNvPr id="83" name="图片 8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472" y="206816"/>
            <a:ext cx="3217472" cy="45950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/>
          <a:srcRect t="414" b="41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52" y="285750"/>
            <a:ext cx="2462497" cy="7620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4191000" y="2347436"/>
            <a:ext cx="3810000" cy="1472089"/>
            <a:chOff x="4191000" y="2347436"/>
            <a:chExt cx="3810000" cy="1472089"/>
          </a:xfrm>
        </p:grpSpPr>
        <p:sp>
          <p:nvSpPr>
            <p:cNvPr id="5" name="TextBox 5"/>
            <p:cNvSpPr txBox="1"/>
            <p:nvPr/>
          </p:nvSpPr>
          <p:spPr>
            <a:xfrm>
              <a:off x="4712827" y="2347436"/>
              <a:ext cx="2766346" cy="960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725" b="1" dirty="0">
                  <a:gradFill>
                    <a:gsLst>
                      <a:gs pos="50000">
                        <a:schemeClr val="tx1"/>
                      </a:gs>
                      <a:gs pos="0">
                        <a:schemeClr val="tx1">
                          <a:lumMod val="25000"/>
                          <a:lumOff val="75000"/>
                        </a:schemeClr>
                      </a:gs>
                      <a:gs pos="100000">
                        <a:schemeClr val="tx1">
                          <a:lumMod val="85000"/>
                        </a:schemeClr>
                      </a:gs>
                    </a:gsLst>
                    <a:lin ang="5400000" scaled="1"/>
                  </a:gradFill>
                  <a:latin typeface="Georgia" panose="02040502050405020303"/>
                  <a:ea typeface="微软雅黑" panose="020B0503020204020204" charset="-122"/>
                  <a:cs typeface="Georgia" panose="02040502050405020303"/>
                </a:rPr>
                <a:t>感谢聆听</a:t>
              </a:r>
              <a:endParaRPr lang="zh-CN" sz="4725" b="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Georgia" panose="02040502050405020303"/>
                <a:ea typeface="微软雅黑" panose="020B0503020204020204" charset="-122"/>
                <a:cs typeface="Georgia" panose="02040502050405020303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4191000" y="3048000"/>
              <a:ext cx="3810000" cy="19050"/>
            </a:xfrm>
            <a:prstGeom prst="rect">
              <a:avLst/>
            </a:prstGeom>
            <a:gradFill>
              <a:gsLst>
                <a:gs pos="50000">
                  <a:schemeClr val="tx1"/>
                </a:gs>
                <a:gs pos="0">
                  <a:schemeClr val="tx1">
                    <a:lumMod val="25000"/>
                    <a:lumOff val="75000"/>
                  </a:schemeClr>
                </a:gs>
                <a:gs pos="100000">
                  <a:schemeClr val="tx1">
                    <a:lumMod val="85000"/>
                  </a:schemeClr>
                </a:gs>
              </a:gsLst>
              <a:lin ang="5400000" scaled="1"/>
            </a:gra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5208222" y="3392805"/>
              <a:ext cx="177555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gradFill>
                    <a:gsLst>
                      <a:gs pos="50000">
                        <a:schemeClr val="tx1"/>
                      </a:gs>
                      <a:gs pos="0">
                        <a:schemeClr val="tx1">
                          <a:lumMod val="25000"/>
                          <a:lumOff val="75000"/>
                        </a:schemeClr>
                      </a:gs>
                      <a:gs pos="100000">
                        <a:schemeClr val="tx1">
                          <a:lumMod val="85000"/>
                        </a:schemeClr>
                      </a:gs>
                    </a:gsLst>
                    <a:lin ang="5400000" scaled="1"/>
                  </a:gra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Q&amp;A 交流环节</a:t>
              </a:r>
              <a:endParaRPr lang="zh-CN" sz="21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pic>
        <p:nvPicPr>
          <p:cNvPr id="11" name="Imag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4122" y="6000750"/>
            <a:ext cx="1688757" cy="762000"/>
          </a:xfrm>
          <a:prstGeom prst="rect">
            <a:avLst/>
          </a:prstGeom>
        </p:spPr>
      </p:pic>
      <p:sp>
        <p:nvSpPr>
          <p:cNvPr id="3" name="TextBox 11"/>
          <p:cNvSpPr txBox="1"/>
          <p:nvPr/>
        </p:nvSpPr>
        <p:spPr>
          <a:xfrm>
            <a:off x="5384800" y="6122988"/>
            <a:ext cx="142240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桂林电子科技大学</a:t>
            </a:r>
            <a:endParaRPr lang="zh-CN" sz="14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4495800" y="6424930"/>
            <a:ext cx="320040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00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第二十一届研究生电子设计竞赛参赛作品</a:t>
            </a:r>
            <a:endParaRPr lang="zh-CN" sz="1400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3867</Words>
  <Application>WPS 演示</Application>
  <PresentationFormat>宽屏</PresentationFormat>
  <Paragraphs>780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Arial</vt:lpstr>
      <vt:lpstr>Georgia</vt:lpstr>
      <vt:lpstr>微软雅黑</vt:lpstr>
      <vt:lpstr>Times New Roman</vt:lpstr>
      <vt:lpstr>Arial Unicode MS</vt:lpstr>
      <vt:lpstr>Calibri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丷</cp:lastModifiedBy>
  <cp:revision>19</cp:revision>
  <dcterms:created xsi:type="dcterms:W3CDTF">2026-06-11T06:06:00Z</dcterms:created>
  <dcterms:modified xsi:type="dcterms:W3CDTF">2026-06-12T09:12:12Z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A034D6A2FFE14DCFB22301FBF00BF70B_12</vt:lpwstr>
  </property>
</Properties>
</file>